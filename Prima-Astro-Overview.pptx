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2026-08-26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079" y="-91440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3A2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2883F"/>
                </a:solidFill>
                <a:latin typeface="Consolas"/>
              </a:rPr>
              <a:t>AGENTIC AI  ·  MANAJEMEN SPAREPART GUDANG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800" b="1" i="0">
                <a:solidFill>
                  <a:srgbClr val="EEF1F6"/>
                </a:solidFill>
                <a:latin typeface="Arial Black"/>
              </a:rPr>
              <a:t>PRIMA 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6868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dirty="0" err="1" smtClean="0">
                <a:solidFill>
                  <a:schemeClr val="bg1"/>
                </a:solidFill>
              </a:rPr>
              <a:t>Agen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AI </a:t>
            </a:r>
            <a:r>
              <a:rPr lang="en-US" sz="2000" dirty="0" err="1">
                <a:solidFill>
                  <a:schemeClr val="bg1"/>
                </a:solidFill>
              </a:rPr>
              <a:t>Terintegrasi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Mengoptimalkan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Pengelolaan</a:t>
            </a:r>
            <a:r>
              <a:rPr lang="en-US" sz="2000" dirty="0">
                <a:solidFill>
                  <a:schemeClr val="bg1"/>
                </a:solidFill>
              </a:rPr>
              <a:t> Stok, </a:t>
            </a:r>
            <a:r>
              <a:rPr lang="en-US" sz="2000" dirty="0" err="1">
                <a:solidFill>
                  <a:schemeClr val="bg1"/>
                </a:solidFill>
              </a:rPr>
              <a:t>Transaksi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Pengadaan</a:t>
            </a:r>
            <a:r>
              <a:rPr lang="en-US" sz="2000" dirty="0">
                <a:solidFill>
                  <a:schemeClr val="bg1"/>
                </a:solidFill>
              </a:rPr>
              <a:t> Spare Part.</a:t>
            </a:r>
            <a:endParaRPr sz="2000"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470355" cy="329184"/>
          </a:xfrm>
          <a:prstGeom prst="roundRect">
            <a:avLst>
              <a:gd name="adj" fmla="val 50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1150">
                <a:solidFill>
                  <a:srgbClr val="9AA4B8"/>
                </a:solidFill>
                <a:latin typeface="Consolas"/>
              </a:rPr>
              <a:t>5 Agen Spesialis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7907" y="4892040"/>
            <a:ext cx="1792223" cy="329184"/>
          </a:xfrm>
          <a:prstGeom prst="roundRect">
            <a:avLst>
              <a:gd name="adj" fmla="val 50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1150">
                <a:solidFill>
                  <a:srgbClr val="9AA4B8"/>
                </a:solidFill>
                <a:latin typeface="Consolas"/>
              </a:rPr>
              <a:t>CrewAI + Redis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722" y="4892040"/>
            <a:ext cx="1711756" cy="329184"/>
          </a:xfrm>
          <a:prstGeom prst="roundRect">
            <a:avLst>
              <a:gd name="adj" fmla="val 50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1150">
                <a:solidFill>
                  <a:srgbClr val="9AA4B8"/>
                </a:solidFill>
                <a:latin typeface="Consolas"/>
              </a:rPr>
              <a:t>Forecasting Prophet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0" y="48920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1150">
                <a:solidFill>
                  <a:srgbClr val="9AA4B8"/>
                </a:solidFill>
                <a:latin typeface="Consolas"/>
              </a:rPr>
              <a:t>Web · Telegram · REST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6263640"/>
            <a:ext cx="1054303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3825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7488"/>
                </a:solidFill>
                <a:latin typeface="Consolas"/>
              </a:rPr>
              <a:t>Overview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825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7488"/>
                </a:solidFill>
                <a:latin typeface="Consola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B7488"/>
                </a:solidFill>
                <a:latin typeface="Consolas"/>
              </a:rPr>
              <a:t>Prima ASTRO</a:t>
            </a:r>
            <a:endParaRPr lang="en-US" sz="120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EF1F6"/>
                </a:solidFill>
                <a:latin typeface="Arial Black"/>
              </a:rPr>
              <a:t>Masalah &amp; 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7488"/>
                </a:solidFill>
                <a:latin typeface="Consolas"/>
              </a:rPr>
              <a:t>●  YANG BIKIN REPOT SEHARI-HARI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468880"/>
            <a:ext cx="25400" cy="566928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AA4B8"/>
                </a:solidFill>
                <a:latin typeface="Segoe UI"/>
              </a:rPr>
              <a:t>Data stok tersebar di file terpisah, susah dicek real-time saat dibutuhkan.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182112"/>
            <a:ext cx="25400" cy="566928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244361"/>
            <a:ext cx="4892040" cy="442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 i="0" dirty="0" err="1" smtClean="0">
                <a:solidFill>
                  <a:srgbClr val="9AA4B8"/>
                </a:solidFill>
                <a:latin typeface="Segoe UI"/>
              </a:rPr>
              <a:t>Tidak</a:t>
            </a:r>
            <a:r>
              <a:rPr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ada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cara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 smtClean="0">
                <a:solidFill>
                  <a:srgbClr val="9AA4B8"/>
                </a:solidFill>
                <a:latin typeface="Segoe UI"/>
              </a:rPr>
              <a:t>cepat</a:t>
            </a:r>
            <a:r>
              <a:rPr lang="en-US"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lang="en-US" sz="1250" b="0" i="0" dirty="0" err="1" smtClean="0">
                <a:solidFill>
                  <a:srgbClr val="9AA4B8"/>
                </a:solidFill>
                <a:latin typeface="Segoe UI"/>
              </a:rPr>
              <a:t>untuk</a:t>
            </a:r>
            <a:r>
              <a:rPr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lang="en-US" sz="1250" b="0" i="0" dirty="0" err="1" smtClean="0">
                <a:solidFill>
                  <a:srgbClr val="9AA4B8"/>
                </a:solidFill>
                <a:latin typeface="Segoe UI"/>
              </a:rPr>
              <a:t>me</a:t>
            </a:r>
            <a:r>
              <a:rPr sz="1250" b="0" i="0" dirty="0" err="1" smtClean="0">
                <a:solidFill>
                  <a:srgbClr val="9AA4B8"/>
                </a:solidFill>
                <a:latin typeface="Segoe UI"/>
              </a:rPr>
              <a:t>lacak</a:t>
            </a:r>
            <a:r>
              <a:rPr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departemen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atau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PIC mana yang paling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banyak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pakai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satu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895344"/>
            <a:ext cx="25400" cy="566928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957593"/>
            <a:ext cx="4892040" cy="442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9AA4B8"/>
                </a:solidFill>
                <a:latin typeface="Segoe UI"/>
              </a:rPr>
              <a:t>Prediksi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kebutuhan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bulan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depan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masih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pakai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perkiraan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, </a:t>
            </a:r>
            <a:r>
              <a:rPr lang="en-US" sz="1250" b="0" i="0" dirty="0" err="1" smtClean="0">
                <a:solidFill>
                  <a:srgbClr val="9AA4B8"/>
                </a:solidFill>
                <a:latin typeface="Segoe UI"/>
              </a:rPr>
              <a:t>belum</a:t>
            </a:r>
            <a:r>
              <a:rPr lang="en-US"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lang="en-US" sz="1250" b="0" i="0" dirty="0" err="1" smtClean="0">
                <a:solidFill>
                  <a:srgbClr val="9AA4B8"/>
                </a:solidFill>
                <a:latin typeface="Segoe UI"/>
              </a:rPr>
              <a:t>menggunakan</a:t>
            </a:r>
            <a:r>
              <a:rPr sz="1250" b="0" i="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data </a:t>
            </a:r>
            <a:r>
              <a:rPr sz="1250" b="0" i="0" dirty="0" err="1">
                <a:solidFill>
                  <a:srgbClr val="9AA4B8"/>
                </a:solidFill>
                <a:latin typeface="Segoe UI"/>
              </a:rPr>
              <a:t>historis</a:t>
            </a:r>
            <a:r>
              <a:rPr sz="1250" b="0" i="0" dirty="0">
                <a:solidFill>
                  <a:srgbClr val="9AA4B8"/>
                </a:solidFill>
                <a:latin typeface="Segoe U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608576"/>
            <a:ext cx="25400" cy="566928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4608576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AA4B8"/>
                </a:solidFill>
                <a:latin typeface="Segoe UI"/>
              </a:rPr>
              <a:t>Bikin draft purchase order &amp; laporan restock masih manual, satu-satu.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96596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2883F"/>
                </a:solidFill>
                <a:latin typeface="Consolas"/>
              </a:rPr>
              <a:t>●  YANG DITAWARKAN PRIMA ASTRO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468880"/>
            <a:ext cx="5074920" cy="621792"/>
          </a:xfrm>
          <a:prstGeom prst="roundRect">
            <a:avLst>
              <a:gd name="adj" fmla="val 12000"/>
            </a:avLst>
          </a:prstGeom>
          <a:solidFill>
            <a:srgbClr val="181D27"/>
          </a:solidFill>
          <a:ln w="13970">
            <a:solidFill>
              <a:srgbClr val="E28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28016" bIns="54864" rtlCol="0" anchor="ctr"/>
          <a:lstStyle/>
          <a:p>
            <a:pPr algn="ctr">
              <a:lnSpc>
                <a:spcPct val="110000"/>
              </a:lnSpc>
            </a:pPr>
            <a:r>
              <a:rPr sz="1250" b="1" dirty="0">
                <a:solidFill>
                  <a:srgbClr val="EEF1F6"/>
                </a:solidFill>
                <a:latin typeface="Segoe UI"/>
              </a:rPr>
              <a:t>Tanya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pakai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bahasa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biasa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—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chatbot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AI yang </a:t>
            </a:r>
            <a:r>
              <a:rPr sz="1250" dirty="0" err="1" smtClean="0">
                <a:solidFill>
                  <a:srgbClr val="9AA4B8"/>
                </a:solidFill>
                <a:latin typeface="Segoe UI"/>
              </a:rPr>
              <a:t>langsung</a:t>
            </a:r>
            <a:r>
              <a:rPr sz="125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lang="en-US" sz="1250" dirty="0" err="1" smtClean="0">
                <a:solidFill>
                  <a:srgbClr val="9AA4B8"/>
                </a:solidFill>
                <a:latin typeface="Segoe UI"/>
              </a:rPr>
              <a:t>meng</a:t>
            </a:r>
            <a:r>
              <a:rPr sz="1250" dirty="0" err="1" smtClean="0">
                <a:solidFill>
                  <a:srgbClr val="9AA4B8"/>
                </a:solidFill>
                <a:latin typeface="Segoe UI"/>
              </a:rPr>
              <a:t>ambil</a:t>
            </a:r>
            <a:r>
              <a:rPr sz="125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data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asli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dari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smtClean="0">
                <a:solidFill>
                  <a:srgbClr val="9AA4B8"/>
                </a:solidFill>
                <a:latin typeface="Segoe UI"/>
              </a:rPr>
              <a:t>database.</a:t>
            </a:r>
            <a:endParaRPr sz="1250" dirty="0">
              <a:solidFill>
                <a:srgbClr val="9AA4B8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16752" y="3200400"/>
            <a:ext cx="5074920" cy="621792"/>
          </a:xfrm>
          <a:prstGeom prst="roundRect">
            <a:avLst>
              <a:gd name="adj" fmla="val 12000"/>
            </a:avLst>
          </a:prstGeom>
          <a:solidFill>
            <a:srgbClr val="181D27"/>
          </a:solidFill>
          <a:ln w="13970">
            <a:solidFill>
              <a:srgbClr val="E28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28016" bIns="54864" rtlCol="0" anchor="ctr"/>
          <a:lstStyle/>
          <a:p>
            <a:pPr algn="ctr">
              <a:lnSpc>
                <a:spcPct val="110000"/>
              </a:lnSpc>
            </a:pPr>
            <a:r>
              <a:rPr sz="1250" b="1" dirty="0">
                <a:solidFill>
                  <a:srgbClr val="EEF1F6"/>
                </a:solidFill>
                <a:latin typeface="Segoe UI"/>
              </a:rPr>
              <a:t>5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agen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spesialis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—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masing-masing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fokus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di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satu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urusan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: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stok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transaksi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tren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pembelian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harga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3931920"/>
            <a:ext cx="5074920" cy="621792"/>
          </a:xfrm>
          <a:prstGeom prst="roundRect">
            <a:avLst>
              <a:gd name="adj" fmla="val 12000"/>
            </a:avLst>
          </a:prstGeom>
          <a:solidFill>
            <a:srgbClr val="181D27"/>
          </a:solidFill>
          <a:ln w="13970">
            <a:solidFill>
              <a:srgbClr val="E28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28016" bIns="54864" rtlCol="0" anchor="ctr"/>
          <a:lstStyle/>
          <a:p>
            <a:pPr algn="ctr">
              <a:lnSpc>
                <a:spcPct val="110000"/>
              </a:lnSpc>
            </a:pPr>
            <a:r>
              <a:rPr sz="1250" b="1" dirty="0" err="1">
                <a:solidFill>
                  <a:srgbClr val="EEF1F6"/>
                </a:solidFill>
                <a:latin typeface="Segoe UI"/>
              </a:rPr>
              <a:t>Prediksi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statistik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— </a:t>
            </a:r>
            <a:r>
              <a:rPr lang="en-US" sz="1250" dirty="0" err="1" smtClean="0">
                <a:solidFill>
                  <a:srgbClr val="9AA4B8"/>
                </a:solidFill>
                <a:latin typeface="Segoe UI"/>
              </a:rPr>
              <a:t>mem</a:t>
            </a:r>
            <a:r>
              <a:rPr sz="1250" dirty="0" err="1" smtClean="0">
                <a:solidFill>
                  <a:srgbClr val="9AA4B8"/>
                </a:solidFill>
                <a:latin typeface="Segoe UI"/>
              </a:rPr>
              <a:t>akai</a:t>
            </a:r>
            <a:r>
              <a:rPr sz="125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Facebook Prophet,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bukan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feeling.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4663440"/>
            <a:ext cx="5074920" cy="621792"/>
          </a:xfrm>
          <a:prstGeom prst="roundRect">
            <a:avLst>
              <a:gd name="adj" fmla="val 12000"/>
            </a:avLst>
          </a:prstGeom>
          <a:solidFill>
            <a:srgbClr val="181D27"/>
          </a:solidFill>
          <a:ln w="13970">
            <a:solidFill>
              <a:srgbClr val="E28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28016" bIns="54864" rtlCol="0" anchor="ctr"/>
          <a:lstStyle/>
          <a:p>
            <a:pPr algn="ctr">
              <a:lnSpc>
                <a:spcPct val="110000"/>
              </a:lnSpc>
            </a:pPr>
            <a:r>
              <a:rPr sz="1250" b="1" dirty="0">
                <a:solidFill>
                  <a:srgbClr val="EEF1F6"/>
                </a:solidFill>
                <a:latin typeface="Segoe UI"/>
              </a:rPr>
              <a:t>Draft PO &amp; </a:t>
            </a:r>
            <a:r>
              <a:rPr sz="1250" b="1" dirty="0" err="1">
                <a:solidFill>
                  <a:srgbClr val="EEF1F6"/>
                </a:solidFill>
                <a:latin typeface="Segoe UI"/>
              </a:rPr>
              <a:t>notifikasi</a:t>
            </a:r>
            <a:r>
              <a:rPr sz="1250" b="1" dirty="0">
                <a:solidFill>
                  <a:srgbClr val="EEF1F6"/>
                </a:solidFill>
                <a:latin typeface="Segoe UI"/>
              </a:rPr>
              <a:t> — </a:t>
            </a:r>
            <a:r>
              <a:rPr lang="en-US" sz="1250" dirty="0" err="1" smtClean="0">
                <a:solidFill>
                  <a:srgbClr val="9AA4B8"/>
                </a:solidFill>
                <a:latin typeface="Segoe UI"/>
              </a:rPr>
              <a:t>berj</a:t>
            </a:r>
            <a:r>
              <a:rPr sz="1250" dirty="0" err="1" smtClean="0">
                <a:solidFill>
                  <a:srgbClr val="9AA4B8"/>
                </a:solidFill>
                <a:latin typeface="Segoe UI"/>
              </a:rPr>
              <a:t>alan</a:t>
            </a:r>
            <a:r>
              <a:rPr sz="1250" dirty="0" smtClean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otomatis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di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belakang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layar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lewat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9AA4B8"/>
                </a:solidFill>
                <a:latin typeface="Segoe UI"/>
              </a:rPr>
              <a:t>antrian</a:t>
            </a:r>
            <a:r>
              <a:rPr sz="1250" dirty="0">
                <a:solidFill>
                  <a:srgbClr val="9AA4B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B7488"/>
                </a:solidFill>
                <a:latin typeface="Consolas"/>
              </a:rPr>
              <a:t>Prima ASTRO</a:t>
            </a:r>
            <a:endParaRPr lang="en-US" sz="120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EF1F6"/>
                </a:solidFill>
                <a:latin typeface="Arial Black"/>
              </a:rPr>
              <a:t>Arsitektur Singkat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027" y="2103120"/>
            <a:ext cx="2331720" cy="1051560"/>
          </a:xfrm>
          <a:prstGeom prst="roundRect">
            <a:avLst>
              <a:gd name="adj" fmla="val 14000"/>
            </a:avLst>
          </a:prstGeom>
          <a:solidFill>
            <a:srgbClr val="181D27"/>
          </a:solidFill>
          <a:ln w="1524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/>
            <a:r>
              <a:rPr sz="950">
                <a:solidFill>
                  <a:srgbClr val="6B7488"/>
                </a:solidFill>
                <a:latin typeface="Consolas"/>
              </a:rPr>
              <a:t>MASUK DARI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EF1F6"/>
                </a:solidFill>
                <a:latin typeface="Segoe UI"/>
              </a:rPr>
              <a:t>Web · Telegram
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747" y="210312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6B7488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2667" y="2103120"/>
            <a:ext cx="2331720" cy="1051560"/>
          </a:xfrm>
          <a:prstGeom prst="roundRect">
            <a:avLst>
              <a:gd name="adj" fmla="val 14000"/>
            </a:avLst>
          </a:prstGeom>
          <a:solidFill>
            <a:srgbClr val="3A2C1C"/>
          </a:solidFill>
          <a:ln w="15240">
            <a:solidFill>
              <a:srgbClr val="E28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/>
            <a:r>
              <a:rPr sz="950">
                <a:solidFill>
                  <a:srgbClr val="6B7488"/>
                </a:solidFill>
                <a:latin typeface="Consolas"/>
              </a:rPr>
              <a:t>ANTRIAN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EF1F6"/>
                </a:solidFill>
                <a:latin typeface="Segoe UI"/>
              </a:rPr>
              <a:t>Celery +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210312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6B748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307" y="2103120"/>
            <a:ext cx="2331720" cy="1051560"/>
          </a:xfrm>
          <a:prstGeom prst="roundRect">
            <a:avLst>
              <a:gd name="adj" fmla="val 14000"/>
            </a:avLst>
          </a:prstGeom>
          <a:solidFill>
            <a:srgbClr val="181D27"/>
          </a:solidFill>
          <a:ln w="1524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/>
            <a:r>
              <a:rPr sz="950">
                <a:solidFill>
                  <a:srgbClr val="6B7488"/>
                </a:solidFill>
                <a:latin typeface="Consolas"/>
              </a:rPr>
              <a:t>OTAK SISTEM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EF1F6"/>
                </a:solidFill>
                <a:latin typeface="Segoe UI"/>
              </a:rPr>
              <a:t>CrewAI Crew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9027" y="210312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6B7488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1947" y="2103120"/>
            <a:ext cx="2331720" cy="1051560"/>
          </a:xfrm>
          <a:prstGeom prst="roundRect">
            <a:avLst>
              <a:gd name="adj" fmla="val 14000"/>
            </a:avLst>
          </a:prstGeom>
          <a:solidFill>
            <a:srgbClr val="181D27"/>
          </a:solidFill>
          <a:ln w="1524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/>
            <a:r>
              <a:rPr sz="950">
                <a:solidFill>
                  <a:srgbClr val="6B7488"/>
                </a:solidFill>
                <a:latin typeface="Consolas"/>
              </a:rPr>
              <a:t>SUMBER DATA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EF1F6"/>
                </a:solidFill>
                <a:latin typeface="Segoe UI"/>
              </a:rPr>
              <a:t>SQLite
(stok + transaksi)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9476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000" b="1">
                <a:solidFill>
                  <a:srgbClr val="57C7BB"/>
                </a:solidFill>
                <a:latin typeface="Consolas"/>
              </a:rPr>
              <a:t>KENAPA PAKAI ANTRIAN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>
                <a:solidFill>
                  <a:srgbClr val="9AA4B8"/>
                </a:solidFill>
                <a:latin typeface="Segoe UI"/>
              </a:rPr>
              <a:t>Web dan Telegram bisa dipakai bersamaan, tapi tiap pertanyaan tetap diproses satu-satu lewat Redis — biar gak rebutan kuota LLM yang sama.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000" b="1">
                <a:solidFill>
                  <a:srgbClr val="57C7BB"/>
                </a:solidFill>
                <a:latin typeface="Consolas"/>
              </a:rPr>
              <a:t>CELERY BEAT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>
                <a:solidFill>
                  <a:srgbClr val="9AA4B8"/>
                </a:solidFill>
                <a:latin typeface="Segoe UI"/>
              </a:rPr>
              <a:t>Proses terjadwal tambahan yang jalan tiap pagi, ngecek stok kritis dan kirim notifikasi ke Telegram tanpa harus ada yang tanya duluan.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379476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000" b="1">
                <a:solidFill>
                  <a:srgbClr val="57C7BB"/>
                </a:solidFill>
                <a:latin typeface="Consolas"/>
              </a:rPr>
              <a:t>PILIHAN LLM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>
                <a:solidFill>
                  <a:srgbClr val="9AA4B8"/>
                </a:solidFill>
                <a:latin typeface="Segoe UI"/>
              </a:rPr>
              <a:t>Bisa pakai Gemini 2.5 Flash (cloud, cepat) atau Ollama Llama 3.1 (lokal, offline) — tinggal ganti satu baris di .env.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B7488"/>
                </a:solidFill>
                <a:latin typeface="Consolas"/>
              </a:rPr>
              <a:t>Prima ASTRO</a:t>
            </a:r>
            <a:endParaRPr lang="en-US" sz="120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EF1F6"/>
                </a:solidFill>
                <a:latin typeface="Arial Black"/>
              </a:rPr>
              <a:t>5 Agen Spesialis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10927080" cy="621792"/>
          </a:xfrm>
          <a:prstGeom prst="roundRect">
            <a:avLst>
              <a:gd name="adj" fmla="val 15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050" b="1">
                <a:solidFill>
                  <a:srgbClr val="E2883F"/>
                </a:solidFill>
                <a:latin typeface="Consolas"/>
              </a:rPr>
              <a:t>MANAGER AGENT   </a:t>
            </a:r>
            <a:r>
              <a:rPr sz="1200">
                <a:solidFill>
                  <a:srgbClr val="9AA4B8"/>
                </a:solidFill>
                <a:latin typeface="Segoe UI"/>
              </a:rPr>
              <a:t>Terima tiap pertanyaan lebih dulu, lalu memutuskan mau didelegasikan ke agen spesialis yang mana — satu atau lebih sekaligus.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697480"/>
            <a:ext cx="2093976" cy="352044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/>
            <a:r>
              <a:rPr sz="1000">
                <a:solidFill>
                  <a:srgbClr val="6B7488"/>
                </a:solidFill>
                <a:latin typeface="Consolas"/>
              </a:rPr>
              <a:t>01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450" b="1">
                <a:solidFill>
                  <a:srgbClr val="EEF1F6"/>
                </a:solidFill>
                <a:latin typeface="Segoe UI"/>
              </a:rPr>
              <a:t>Stock Specialist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080">
                <a:solidFill>
                  <a:srgbClr val="9AA4B8"/>
                </a:solidFill>
                <a:latin typeface="Segoe UI"/>
              </a:rPr>
              <a:t>Ngecek sisa stok (SOH) dan nandain barang yang statusnya warning atau danger.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4932" y="2697480"/>
            <a:ext cx="2093976" cy="352044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/>
            <a:r>
              <a:rPr sz="1000">
                <a:solidFill>
                  <a:srgbClr val="6B7488"/>
                </a:solidFill>
                <a:latin typeface="Consolas"/>
              </a:rPr>
              <a:t>02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450" b="1">
                <a:solidFill>
                  <a:srgbClr val="EEF1F6"/>
                </a:solidFill>
                <a:latin typeface="Segoe UI"/>
              </a:rPr>
              <a:t>Transaction Specialist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080">
                <a:solidFill>
                  <a:srgbClr val="9AA4B8"/>
                </a:solidFill>
                <a:latin typeface="Segoe UI"/>
              </a:rPr>
              <a:t>Lacak riwayat barang keluar, dan cari tahu departemen/PIC pemakai terbanyak.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72" y="2697480"/>
            <a:ext cx="2093976" cy="352044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/>
            <a:r>
              <a:rPr sz="1000">
                <a:solidFill>
                  <a:srgbClr val="6B7488"/>
                </a:solidFill>
                <a:latin typeface="Consolas"/>
              </a:rPr>
              <a:t>03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450" b="1">
                <a:solidFill>
                  <a:srgbClr val="EEF1F6"/>
                </a:solidFill>
                <a:latin typeface="Segoe UI"/>
              </a:rPr>
              <a:t>Analytics Specialist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080">
                <a:solidFill>
                  <a:srgbClr val="9AA4B8"/>
                </a:solidFill>
                <a:latin typeface="Segoe UI"/>
              </a:rPr>
              <a:t>Analisa tren pemakaian dan prediksi kebutuhan 30 hari ke depan pakai Prophet.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1212" y="2697480"/>
            <a:ext cx="2093976" cy="352044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/>
            <a:r>
              <a:rPr sz="1000">
                <a:solidFill>
                  <a:srgbClr val="6B7488"/>
                </a:solidFill>
                <a:latin typeface="Consolas"/>
              </a:rPr>
              <a:t>04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450" b="1">
                <a:solidFill>
                  <a:srgbClr val="EEF1F6"/>
                </a:solidFill>
                <a:latin typeface="Segoe UI"/>
              </a:rPr>
              <a:t>Purchasing Specialist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080">
                <a:solidFill>
                  <a:srgbClr val="9AA4B8"/>
                </a:solidFill>
                <a:latin typeface="Segoe UI"/>
              </a:rPr>
              <a:t>Ubah alert restock jadi draft purchase order — qty ikut MOQ, plus estimasi biaya.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4352" y="2697480"/>
            <a:ext cx="2093976" cy="352044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/>
            <a:r>
              <a:rPr sz="1000">
                <a:solidFill>
                  <a:srgbClr val="6B7488"/>
                </a:solidFill>
                <a:latin typeface="Consolas"/>
              </a:rPr>
              <a:t>05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450" b="1">
                <a:solidFill>
                  <a:srgbClr val="EEF1F6"/>
                </a:solidFill>
                <a:latin typeface="Segoe UI"/>
              </a:rPr>
              <a:t>Cost Insight Specialist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080">
                <a:solidFill>
                  <a:srgbClr val="9AA4B8"/>
                </a:solidFill>
                <a:latin typeface="Segoe UI"/>
              </a:rPr>
              <a:t>Jawab soal harga: item termahal, dan item dengan nilai stok tersimpan terbesar.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5705856"/>
            <a:ext cx="1068019" cy="329184"/>
          </a:xfrm>
          <a:prstGeom prst="roundRect">
            <a:avLst>
              <a:gd name="adj" fmla="val 50000"/>
            </a:avLst>
          </a:prstGeom>
          <a:solidFill>
            <a:srgbClr val="1B302E"/>
          </a:solidFill>
          <a:ln w="12700">
            <a:solidFill>
              <a:srgbClr val="57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950">
                <a:solidFill>
                  <a:srgbClr val="57C7BB"/>
                </a:solidFill>
                <a:latin typeface="Consolas"/>
              </a:rPr>
              <a:t>Check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1236" y="5705856"/>
            <a:ext cx="907084" cy="329184"/>
          </a:xfrm>
          <a:prstGeom prst="roundRect">
            <a:avLst>
              <a:gd name="adj" fmla="val 50000"/>
            </a:avLst>
          </a:prstGeom>
          <a:solidFill>
            <a:srgbClr val="1B302E"/>
          </a:solidFill>
          <a:ln w="12700">
            <a:solidFill>
              <a:srgbClr val="57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950">
                <a:solidFill>
                  <a:srgbClr val="57C7BB"/>
                </a:solidFill>
                <a:latin typeface="Consolas"/>
              </a:rPr>
              <a:t>Top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4376" y="5705856"/>
            <a:ext cx="1228953" cy="329184"/>
          </a:xfrm>
          <a:prstGeom prst="roundRect">
            <a:avLst>
              <a:gd name="adj" fmla="val 50000"/>
            </a:avLst>
          </a:prstGeom>
          <a:solidFill>
            <a:srgbClr val="1B302E"/>
          </a:solidFill>
          <a:ln w="12700">
            <a:solidFill>
              <a:srgbClr val="57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950">
                <a:solidFill>
                  <a:srgbClr val="57C7BB"/>
                </a:solidFill>
                <a:latin typeface="Consolas"/>
              </a:rPr>
              <a:t>Predict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7516" y="5705856"/>
            <a:ext cx="826617" cy="329184"/>
          </a:xfrm>
          <a:prstGeom prst="roundRect">
            <a:avLst>
              <a:gd name="adj" fmla="val 50000"/>
            </a:avLst>
          </a:prstGeom>
          <a:solidFill>
            <a:srgbClr val="1B302E"/>
          </a:solidFill>
          <a:ln w="12700">
            <a:solidFill>
              <a:srgbClr val="57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950">
                <a:solidFill>
                  <a:srgbClr val="57C7BB"/>
                </a:solidFill>
                <a:latin typeface="Consolas"/>
              </a:rPr>
              <a:t>Draft 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0656" y="5705856"/>
            <a:ext cx="1228953" cy="329184"/>
          </a:xfrm>
          <a:prstGeom prst="roundRect">
            <a:avLst>
              <a:gd name="adj" fmla="val 50000"/>
            </a:avLst>
          </a:prstGeom>
          <a:solidFill>
            <a:srgbClr val="1B302E"/>
          </a:solidFill>
          <a:ln w="12700">
            <a:solidFill>
              <a:srgbClr val="57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0" rIns="128016" bIns="0" rtlCol="0" anchor="ctr"/>
          <a:lstStyle/>
          <a:p>
            <a:pPr algn="ctr"/>
            <a:r>
              <a:rPr sz="950">
                <a:solidFill>
                  <a:srgbClr val="57C7BB"/>
                </a:solidFill>
                <a:latin typeface="Consolas"/>
              </a:rPr>
              <a:t>Price 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B7488"/>
                </a:solidFill>
                <a:latin typeface="Consolas"/>
              </a:rPr>
              <a:t>Prima ASTRO</a:t>
            </a:r>
            <a:endParaRPr lang="en-US" sz="120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EF1F6"/>
                </a:solidFill>
                <a:latin typeface="Arial Black"/>
              </a:rPr>
              <a:t>Fitur-Fitur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7451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222199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1792" y="24597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3774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Stats real-time — total item, low stock, total transaksi.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9169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8346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Insight katalog — restock alert, tren naik/turun.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3741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2918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Tabel transaksi keluar terbaru.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1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AI ASSISTANT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222199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343400" y="24597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23774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Chatbot di Web Dashboard.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9169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28346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Bot Telegram — akses yang sama dari HP.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3741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32918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Semua tanya-jawab pakai bahasa natural.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187451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FORECASTING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222199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65008" y="24597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3774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Prediksi kebutuhan 30 hari (Prophet).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29169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28346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Grafik data aktual vs prediksi (Chart.js).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337413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29183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Minimal 5 transaksi buat mulai prediksi.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06907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PURCHASING &amp; HARGA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441655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21792" y="46542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45719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Draft PO otomatis dari item kritis.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51114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0291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Estimasi biaya order per item.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55686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" y="54863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Insight nilai stok &amp; item termahal.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06907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OTOMASI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43400" y="441655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343400" y="46542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07992" y="45719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Notifikasi restock harian ke Telegram.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51114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07992" y="50291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Export laporan CSV diproses async.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55686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07992" y="54863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Semua lewat antrian Redis, gak bikin macet.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4069079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FLEKSIBILITAS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65008" y="4416551"/>
            <a:ext cx="3520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065008" y="46542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0" y="45719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LLM bisa cloud (Gemini) atau lokal (Ollama).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51114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50291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Satu business logic buat semua pintu masuk.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5568695"/>
            <a:ext cx="54864" cy="54864"/>
          </a:xfrm>
          <a:prstGeom prst="rect">
            <a:avLst/>
          </a:prstGeom>
          <a:solidFill>
            <a:srgbClr val="6B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548639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AA4B8"/>
                </a:solidFill>
                <a:latin typeface="Segoe UI"/>
              </a:rPr>
              <a:t>Gampang ganti database lewat layer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2883F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 i="0" dirty="0" smtClean="0">
                <a:solidFill>
                  <a:srgbClr val="6B7488"/>
                </a:solidFill>
                <a:latin typeface="Consolas"/>
              </a:rPr>
              <a:t>Prima ASTRO</a:t>
            </a:r>
            <a:endParaRPr sz="1200" b="0" i="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EEF1F6"/>
                </a:solidFill>
                <a:latin typeface="Arial Black"/>
              </a:rPr>
              <a:t>Tech </a:t>
            </a:r>
            <a:r>
              <a:rPr sz="3400" b="1" i="0" dirty="0" smtClean="0">
                <a:solidFill>
                  <a:srgbClr val="EEF1F6"/>
                </a:solidFill>
                <a:latin typeface="Arial Black"/>
              </a:rPr>
              <a:t>Stack</a:t>
            </a:r>
            <a:endParaRPr sz="3400" b="1" i="0" dirty="0">
              <a:solidFill>
                <a:srgbClr val="EEF1F6"/>
              </a:solidFill>
              <a:latin typeface="Arial Black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1965960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203911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Orkestrasi 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03911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CrewAI (Manager + 5 spesialis, proses hierarchical)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2532888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260604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60604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Google Gemini 2.5 Flash (cloud) via LiteLLM, atau Ollama Llama 3.1 (lokal)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3099816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317296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Antrian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172968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Celery + Redis — broker, result backend, sekaligus penjadwal (Beat)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3666744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373989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739896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Facebook Prophet + Pandas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4233672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4306824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430682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FastAPI (REST API &amp; dashboard), SQLite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4800600"/>
            <a:ext cx="6949440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487375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7C7BB"/>
                </a:solidFill>
                <a:latin typeface="Consolas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487375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Segoe UI"/>
              </a:rPr>
              <a:t>Web (Chart.js, vanilla JS) &amp; python-telegram-bot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965960"/>
            <a:ext cx="3749039" cy="3429000"/>
          </a:xfrm>
          <a:prstGeom prst="roundRect">
            <a:avLst>
              <a:gd name="adj" fmla="val 8000"/>
            </a:avLst>
          </a:prstGeom>
          <a:solidFill>
            <a:srgbClr val="181D27"/>
          </a:solidFill>
          <a:ln w="12700">
            <a:solidFill>
              <a:srgbClr val="2B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t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EF1F6"/>
                </a:solidFill>
                <a:latin typeface="Arial Black"/>
              </a:rPr>
              <a:t>Satu business logic, </a:t>
            </a:r>
            <a:r>
              <a:rPr sz="2000" b="1">
                <a:solidFill>
                  <a:srgbClr val="E2883F"/>
                </a:solidFill>
                <a:latin typeface="Arial Black"/>
              </a:rPr>
              <a:t>tiga pintu masuk</a:t>
            </a:r>
            <a:r>
              <a:rPr sz="2000" b="1">
                <a:solidFill>
                  <a:srgbClr val="EEF1F6"/>
                </a:solidFill>
                <a:latin typeface="Arial Black"/>
              </a:rPr>
              <a:t> — konsisten dari mana pun ditanya.</a:t>
            </a: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sz="1250">
                <a:solidFill>
                  <a:srgbClr val="9AA4B8"/>
                </a:solidFill>
                <a:latin typeface="Segoe UI"/>
              </a:rPr>
              <a:t>Web Dashboard, Telegram Bot, dan REST API semuanya manggil usecase yang sama persis. Jawaban chatbot dan angka di dashboard gak akan pernah beda.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dirty="0" smtClean="0">
                <a:solidFill>
                  <a:srgbClr val="E2883F"/>
                </a:solidFill>
                <a:latin typeface="Consolas"/>
              </a:rPr>
              <a:t>0</a:t>
            </a:r>
            <a:r>
              <a:rPr lang="en-US" sz="1200" b="1" i="0" dirty="0" smtClean="0">
                <a:solidFill>
                  <a:srgbClr val="E2883F"/>
                </a:solidFill>
                <a:latin typeface="Consolas"/>
              </a:rPr>
              <a:t>7</a:t>
            </a:r>
            <a:endParaRPr sz="1200" b="1" i="0" dirty="0">
              <a:solidFill>
                <a:srgbClr val="E2883F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 i="0" dirty="0" smtClean="0">
                <a:solidFill>
                  <a:srgbClr val="6B7488"/>
                </a:solidFill>
                <a:latin typeface="Consolas"/>
              </a:rPr>
              <a:t>Prima ASTRO</a:t>
            </a:r>
            <a:endParaRPr sz="1200" b="0" i="0" dirty="0">
              <a:solidFill>
                <a:srgbClr val="6B7488"/>
              </a:solidFill>
              <a:latin typeface="Consola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804672"/>
            <a:ext cx="10908792" cy="0"/>
          </a:xfrm>
          <a:prstGeom prst="line">
            <a:avLst/>
          </a:prstGeom>
          <a:ln w="9525">
            <a:solidFill>
              <a:srgbClr val="2B3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914400"/>
            <a:ext cx="100584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400" b="1" i="0" dirty="0" err="1" smtClean="0">
                <a:solidFill>
                  <a:srgbClr val="EEF1F6"/>
                </a:solidFill>
                <a:latin typeface="Arial Black"/>
              </a:rPr>
              <a:t>Dokumentasi</a:t>
            </a:r>
            <a:endParaRPr sz="3400" b="1" i="0" dirty="0">
              <a:solidFill>
                <a:srgbClr val="EEF1F6"/>
              </a:solidFill>
              <a:latin typeface="Arial Black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891" y="1684274"/>
            <a:ext cx="2216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 Mei – Training AI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2" y="2288642"/>
            <a:ext cx="297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 Mei - Discussion Group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2982724"/>
            <a:ext cx="297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 Mei - </a:t>
            </a:r>
            <a:r>
              <a:rPr lang="en-US" dirty="0" err="1" smtClean="0">
                <a:solidFill>
                  <a:schemeClr val="bg1"/>
                </a:solidFill>
              </a:rPr>
              <a:t>Kelompokan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8375" y="3593812"/>
            <a:ext cx="297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24 </a:t>
            </a:r>
            <a:r>
              <a:rPr lang="en-US" dirty="0" err="1" smtClean="0">
                <a:solidFill>
                  <a:schemeClr val="bg1"/>
                </a:solidFill>
              </a:rPr>
              <a:t>Juni</a:t>
            </a:r>
            <a:r>
              <a:rPr lang="en-US" dirty="0" smtClean="0">
                <a:solidFill>
                  <a:schemeClr val="bg1"/>
                </a:solidFill>
              </a:rPr>
              <a:t> – Mentoring </a:t>
            </a:r>
            <a:r>
              <a:rPr lang="en-US" dirty="0" err="1" smtClean="0">
                <a:solidFill>
                  <a:schemeClr val="bg1"/>
                </a:solidFill>
              </a:rPr>
              <a:t>Sistem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8375" y="4217762"/>
            <a:ext cx="4550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 Mei – Meeting </a:t>
            </a:r>
            <a:r>
              <a:rPr lang="en-US" dirty="0" err="1" smtClean="0">
                <a:solidFill>
                  <a:schemeClr val="bg1"/>
                </a:solidFill>
              </a:rPr>
              <a:t>dengan</a:t>
            </a:r>
            <a:r>
              <a:rPr lang="en-US" dirty="0" smtClean="0">
                <a:solidFill>
                  <a:schemeClr val="bg1"/>
                </a:solidFill>
              </a:rPr>
              <a:t> Management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8375" y="4814166"/>
            <a:ext cx="4550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 Mei – Trial User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8375" y="5438116"/>
            <a:ext cx="4550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 Mei – </a:t>
            </a:r>
            <a:r>
              <a:rPr lang="en-US" dirty="0" err="1" smtClean="0">
                <a:solidFill>
                  <a:schemeClr val="bg1"/>
                </a:solidFill>
              </a:rPr>
              <a:t>Bux</a:t>
            </a:r>
            <a:r>
              <a:rPr lang="en-US" dirty="0" smtClean="0">
                <a:solidFill>
                  <a:schemeClr val="bg1"/>
                </a:solidFill>
              </a:rPr>
              <a:t> Fixing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10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711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Findryan kurnia</cp:lastModifiedBy>
  <cp:revision>7</cp:revision>
  <dcterms:created xsi:type="dcterms:W3CDTF">2013-01-27T09:14:16Z</dcterms:created>
  <dcterms:modified xsi:type="dcterms:W3CDTF">2026-08-25T21:48:37Z</dcterms:modified>
  <cp:category/>
</cp:coreProperties>
</file>