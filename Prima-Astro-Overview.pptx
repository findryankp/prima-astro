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4" d="100"/>
          <a:sy n="74" d="100"/>
        </p:scale>
        <p:origin x="352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2026-08-26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2026-08-26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2026-08-26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2026-08-26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2026-08-26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2026-08-26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2026-08-26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2026-08-26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2026-08-26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2026-08-26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2026-08-26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2026-08-26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498079" y="-914400"/>
            <a:ext cx="5943600" cy="5943600"/>
          </a:xfrm>
          <a:prstGeom prst="roundRect">
            <a:avLst>
              <a:gd name="adj" fmla="val 50000"/>
            </a:avLst>
          </a:prstGeom>
          <a:solidFill>
            <a:srgbClr val="3A2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E2883F"/>
                </a:solidFill>
                <a:latin typeface="Consolas"/>
              </a:rPr>
              <a:t>AGENTIC AI  ·  MANAJEMEN SPAREPART GUDANG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5156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8800" b="1" i="0" dirty="0">
                <a:solidFill>
                  <a:srgbClr val="EEF1F6"/>
                </a:solidFill>
                <a:latin typeface="Arial Black"/>
              </a:rPr>
              <a:t>PRIMA ASTRO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8686800" cy="7694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lang="en-US" sz="2000" dirty="0" err="1" smtClean="0">
                <a:solidFill>
                  <a:schemeClr val="bg1"/>
                </a:solidFill>
              </a:rPr>
              <a:t>Kelompok</a:t>
            </a:r>
            <a:r>
              <a:rPr lang="en-US" sz="2000" dirty="0" smtClean="0">
                <a:solidFill>
                  <a:schemeClr val="bg1"/>
                </a:solidFill>
              </a:rPr>
              <a:t> 3</a:t>
            </a:r>
            <a:br>
              <a:rPr lang="en-US" sz="2000" dirty="0" smtClean="0">
                <a:solidFill>
                  <a:schemeClr val="bg1"/>
                </a:solidFill>
              </a:rPr>
            </a:br>
            <a:r>
              <a:rPr lang="en-US" sz="2000" dirty="0" smtClean="0">
                <a:solidFill>
                  <a:schemeClr val="bg1"/>
                </a:solidFill>
              </a:rPr>
              <a:t>David, Findryan, Jonathan, </a:t>
            </a:r>
            <a:r>
              <a:rPr lang="en-US" sz="2000" dirty="0" err="1" smtClean="0">
                <a:solidFill>
                  <a:schemeClr val="bg1"/>
                </a:solidFill>
              </a:rPr>
              <a:t>Ongky</a:t>
            </a:r>
            <a:endParaRPr sz="2000" b="0" i="0" dirty="0">
              <a:solidFill>
                <a:schemeClr val="bg1"/>
              </a:solidFill>
              <a:latin typeface="Segoe U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22960" y="4892040"/>
            <a:ext cx="1470355" cy="329184"/>
          </a:xfrm>
          <a:prstGeom prst="roundRect">
            <a:avLst>
              <a:gd name="adj" fmla="val 50000"/>
            </a:avLst>
          </a:prstGeom>
          <a:solidFill>
            <a:srgbClr val="181D27"/>
          </a:solidFill>
          <a:ln w="12700">
            <a:solidFill>
              <a:srgbClr val="2B32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0" rIns="128016" bIns="0" rtlCol="0" anchor="ctr"/>
          <a:lstStyle/>
          <a:p>
            <a:pPr algn="ctr"/>
            <a:r>
              <a:rPr sz="1150">
                <a:solidFill>
                  <a:srgbClr val="9AA4B8"/>
                </a:solidFill>
                <a:latin typeface="Consolas"/>
              </a:rPr>
              <a:t>5 Agen Spesialis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57907" y="4892040"/>
            <a:ext cx="1792223" cy="329184"/>
          </a:xfrm>
          <a:prstGeom prst="roundRect">
            <a:avLst>
              <a:gd name="adj" fmla="val 50000"/>
            </a:avLst>
          </a:prstGeom>
          <a:solidFill>
            <a:srgbClr val="181D27"/>
          </a:solidFill>
          <a:ln w="12700">
            <a:solidFill>
              <a:srgbClr val="2B32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0" rIns="128016" bIns="0" rtlCol="0" anchor="ctr"/>
          <a:lstStyle/>
          <a:p>
            <a:pPr algn="ctr"/>
            <a:r>
              <a:rPr sz="1150">
                <a:solidFill>
                  <a:srgbClr val="9AA4B8"/>
                </a:solidFill>
                <a:latin typeface="Consolas"/>
              </a:rPr>
              <a:t>CrewAI + Redis Queue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4722" y="4892040"/>
            <a:ext cx="1711756" cy="329184"/>
          </a:xfrm>
          <a:prstGeom prst="roundRect">
            <a:avLst>
              <a:gd name="adj" fmla="val 50000"/>
            </a:avLst>
          </a:prstGeom>
          <a:solidFill>
            <a:srgbClr val="181D27"/>
          </a:solidFill>
          <a:ln w="12700">
            <a:solidFill>
              <a:srgbClr val="2B32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0" rIns="128016" bIns="0" rtlCol="0" anchor="ctr"/>
          <a:lstStyle/>
          <a:p>
            <a:pPr algn="ctr"/>
            <a:r>
              <a:rPr sz="1150">
                <a:solidFill>
                  <a:srgbClr val="9AA4B8"/>
                </a:solidFill>
                <a:latin typeface="Consolas"/>
              </a:rPr>
              <a:t>Forecasting Prophet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0" y="48920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181D27"/>
          </a:solidFill>
          <a:ln w="12700">
            <a:solidFill>
              <a:srgbClr val="2B32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0" rIns="128016" bIns="0" rtlCol="0" anchor="ctr"/>
          <a:lstStyle/>
          <a:p>
            <a:pPr algn="ctr"/>
            <a:r>
              <a:rPr sz="1150">
                <a:solidFill>
                  <a:srgbClr val="9AA4B8"/>
                </a:solidFill>
                <a:latin typeface="Consolas"/>
              </a:rPr>
              <a:t>Web · Telegram · REST API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6263640"/>
            <a:ext cx="10543032" cy="0"/>
          </a:xfrm>
          <a:prstGeom prst="line">
            <a:avLst/>
          </a:prstGeom>
          <a:ln w="9525">
            <a:solidFill>
              <a:srgbClr val="2B32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6382512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6B7488"/>
                </a:solidFill>
                <a:latin typeface="Consolas"/>
              </a:rPr>
              <a:t>Overview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6382512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6B7488"/>
                </a:solidFill>
                <a:latin typeface="Consolas"/>
              </a:rPr>
              <a:t>01 / 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2883F"/>
                </a:solidFill>
                <a:latin typeface="Consolas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457200"/>
            <a:ext cx="54864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200" dirty="0">
                <a:solidFill>
                  <a:srgbClr val="6B7488"/>
                </a:solidFill>
                <a:latin typeface="Consolas"/>
              </a:rPr>
              <a:t>Prima ASTRO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804672"/>
            <a:ext cx="10908792" cy="0"/>
          </a:xfrm>
          <a:prstGeom prst="line">
            <a:avLst/>
          </a:prstGeom>
          <a:ln w="9525">
            <a:solidFill>
              <a:srgbClr val="2B32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21792" y="91440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EEF1F6"/>
                </a:solidFill>
                <a:latin typeface="Arial Black"/>
              </a:rPr>
              <a:t>Masalah &amp; Solusi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965960"/>
            <a:ext cx="5074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6B7488"/>
                </a:solidFill>
                <a:latin typeface="Consolas"/>
              </a:rPr>
              <a:t>●  YANG BIKIN REPOT SEHARI-HARI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2468880"/>
            <a:ext cx="25400" cy="566928"/>
          </a:xfrm>
          <a:prstGeom prst="rect">
            <a:avLst/>
          </a:prstGeom>
          <a:solidFill>
            <a:srgbClr val="2B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2468880"/>
            <a:ext cx="4892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9AA4B8"/>
                </a:solidFill>
                <a:latin typeface="Segoe UI"/>
              </a:rPr>
              <a:t>Data stok tersebar di file terpisah, susah dicek real-time saat dibutuhkan.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3182112"/>
            <a:ext cx="25400" cy="566928"/>
          </a:xfrm>
          <a:prstGeom prst="rect">
            <a:avLst/>
          </a:prstGeom>
          <a:solidFill>
            <a:srgbClr val="2B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3244361"/>
            <a:ext cx="4892040" cy="44242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250" b="0" i="0" dirty="0" err="1" smtClean="0">
                <a:solidFill>
                  <a:srgbClr val="9AA4B8"/>
                </a:solidFill>
                <a:latin typeface="Segoe UI"/>
              </a:rPr>
              <a:t>Tidak</a:t>
            </a:r>
            <a:r>
              <a:rPr sz="1250" b="0" i="0" dirty="0" smtClean="0">
                <a:solidFill>
                  <a:srgbClr val="9AA4B8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9AA4B8"/>
                </a:solidFill>
                <a:latin typeface="Segoe UI"/>
              </a:rPr>
              <a:t>ada</a:t>
            </a:r>
            <a:r>
              <a:rPr sz="1250" b="0" i="0" dirty="0">
                <a:solidFill>
                  <a:srgbClr val="9AA4B8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9AA4B8"/>
                </a:solidFill>
                <a:latin typeface="Segoe UI"/>
              </a:rPr>
              <a:t>cara</a:t>
            </a:r>
            <a:r>
              <a:rPr sz="1250" b="0" i="0" dirty="0">
                <a:solidFill>
                  <a:srgbClr val="9AA4B8"/>
                </a:solidFill>
                <a:latin typeface="Segoe UI"/>
              </a:rPr>
              <a:t> </a:t>
            </a:r>
            <a:r>
              <a:rPr sz="1250" b="0" i="0" dirty="0" err="1" smtClean="0">
                <a:solidFill>
                  <a:srgbClr val="9AA4B8"/>
                </a:solidFill>
                <a:latin typeface="Segoe UI"/>
              </a:rPr>
              <a:t>cepat</a:t>
            </a:r>
            <a:r>
              <a:rPr lang="en-US" sz="1250" b="0" i="0" dirty="0" smtClean="0">
                <a:solidFill>
                  <a:srgbClr val="9AA4B8"/>
                </a:solidFill>
                <a:latin typeface="Segoe UI"/>
              </a:rPr>
              <a:t> </a:t>
            </a:r>
            <a:r>
              <a:rPr lang="en-US" sz="1250" b="0" i="0" dirty="0" err="1" smtClean="0">
                <a:solidFill>
                  <a:srgbClr val="9AA4B8"/>
                </a:solidFill>
                <a:latin typeface="Segoe UI"/>
              </a:rPr>
              <a:t>untuk</a:t>
            </a:r>
            <a:r>
              <a:rPr sz="1250" b="0" i="0" dirty="0" smtClean="0">
                <a:solidFill>
                  <a:srgbClr val="9AA4B8"/>
                </a:solidFill>
                <a:latin typeface="Segoe UI"/>
              </a:rPr>
              <a:t> </a:t>
            </a:r>
            <a:r>
              <a:rPr lang="en-US" sz="1250" b="0" i="0" dirty="0" err="1" smtClean="0">
                <a:solidFill>
                  <a:srgbClr val="9AA4B8"/>
                </a:solidFill>
                <a:latin typeface="Segoe UI"/>
              </a:rPr>
              <a:t>me</a:t>
            </a:r>
            <a:r>
              <a:rPr sz="1250" b="0" i="0" dirty="0" err="1" smtClean="0">
                <a:solidFill>
                  <a:srgbClr val="9AA4B8"/>
                </a:solidFill>
                <a:latin typeface="Segoe UI"/>
              </a:rPr>
              <a:t>lacak</a:t>
            </a:r>
            <a:r>
              <a:rPr sz="1250" b="0" i="0" dirty="0" smtClean="0">
                <a:solidFill>
                  <a:srgbClr val="9AA4B8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9AA4B8"/>
                </a:solidFill>
                <a:latin typeface="Segoe UI"/>
              </a:rPr>
              <a:t>departemen</a:t>
            </a:r>
            <a:r>
              <a:rPr sz="1250" b="0" i="0" dirty="0">
                <a:solidFill>
                  <a:srgbClr val="9AA4B8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9AA4B8"/>
                </a:solidFill>
                <a:latin typeface="Segoe UI"/>
              </a:rPr>
              <a:t>atau</a:t>
            </a:r>
            <a:r>
              <a:rPr sz="1250" b="0" i="0" dirty="0">
                <a:solidFill>
                  <a:srgbClr val="9AA4B8"/>
                </a:solidFill>
                <a:latin typeface="Segoe UI"/>
              </a:rPr>
              <a:t> PIC mana yang paling </a:t>
            </a:r>
            <a:r>
              <a:rPr sz="1250" b="0" i="0" dirty="0" err="1">
                <a:solidFill>
                  <a:srgbClr val="9AA4B8"/>
                </a:solidFill>
                <a:latin typeface="Segoe UI"/>
              </a:rPr>
              <a:t>banyak</a:t>
            </a:r>
            <a:r>
              <a:rPr sz="1250" b="0" i="0" dirty="0">
                <a:solidFill>
                  <a:srgbClr val="9AA4B8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9AA4B8"/>
                </a:solidFill>
                <a:latin typeface="Segoe UI"/>
              </a:rPr>
              <a:t>pakai</a:t>
            </a:r>
            <a:r>
              <a:rPr sz="1250" b="0" i="0" dirty="0">
                <a:solidFill>
                  <a:srgbClr val="9AA4B8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9AA4B8"/>
                </a:solidFill>
                <a:latin typeface="Segoe UI"/>
              </a:rPr>
              <a:t>satu</a:t>
            </a:r>
            <a:r>
              <a:rPr sz="1250" b="0" i="0" dirty="0">
                <a:solidFill>
                  <a:srgbClr val="9AA4B8"/>
                </a:solidFill>
                <a:latin typeface="Segoe UI"/>
              </a:rPr>
              <a:t> item.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3895344"/>
            <a:ext cx="25400" cy="566928"/>
          </a:xfrm>
          <a:prstGeom prst="rect">
            <a:avLst/>
          </a:prstGeom>
          <a:solidFill>
            <a:srgbClr val="2B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3957593"/>
            <a:ext cx="4892040" cy="44242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dirty="0" err="1">
                <a:solidFill>
                  <a:srgbClr val="9AA4B8"/>
                </a:solidFill>
                <a:latin typeface="Segoe UI"/>
              </a:rPr>
              <a:t>Prediksi</a:t>
            </a:r>
            <a:r>
              <a:rPr sz="1250" b="0" i="0" dirty="0">
                <a:solidFill>
                  <a:srgbClr val="9AA4B8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9AA4B8"/>
                </a:solidFill>
                <a:latin typeface="Segoe UI"/>
              </a:rPr>
              <a:t>kebutuhan</a:t>
            </a:r>
            <a:r>
              <a:rPr sz="1250" b="0" i="0" dirty="0">
                <a:solidFill>
                  <a:srgbClr val="9AA4B8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9AA4B8"/>
                </a:solidFill>
                <a:latin typeface="Segoe UI"/>
              </a:rPr>
              <a:t>bulan</a:t>
            </a:r>
            <a:r>
              <a:rPr sz="1250" b="0" i="0" dirty="0">
                <a:solidFill>
                  <a:srgbClr val="9AA4B8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9AA4B8"/>
                </a:solidFill>
                <a:latin typeface="Segoe UI"/>
              </a:rPr>
              <a:t>depan</a:t>
            </a:r>
            <a:r>
              <a:rPr sz="1250" b="0" i="0" dirty="0">
                <a:solidFill>
                  <a:srgbClr val="9AA4B8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9AA4B8"/>
                </a:solidFill>
                <a:latin typeface="Segoe UI"/>
              </a:rPr>
              <a:t>masih</a:t>
            </a:r>
            <a:r>
              <a:rPr sz="1250" b="0" i="0" dirty="0">
                <a:solidFill>
                  <a:srgbClr val="9AA4B8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9AA4B8"/>
                </a:solidFill>
                <a:latin typeface="Segoe UI"/>
              </a:rPr>
              <a:t>pakai</a:t>
            </a:r>
            <a:r>
              <a:rPr sz="1250" b="0" i="0" dirty="0">
                <a:solidFill>
                  <a:srgbClr val="9AA4B8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9AA4B8"/>
                </a:solidFill>
                <a:latin typeface="Segoe UI"/>
              </a:rPr>
              <a:t>perkiraan</a:t>
            </a:r>
            <a:r>
              <a:rPr sz="1250" b="0" i="0" dirty="0">
                <a:solidFill>
                  <a:srgbClr val="9AA4B8"/>
                </a:solidFill>
                <a:latin typeface="Segoe UI"/>
              </a:rPr>
              <a:t>, </a:t>
            </a:r>
            <a:r>
              <a:rPr lang="en-US" sz="1250" b="0" i="0" dirty="0" err="1" smtClean="0">
                <a:solidFill>
                  <a:srgbClr val="9AA4B8"/>
                </a:solidFill>
                <a:latin typeface="Segoe UI"/>
              </a:rPr>
              <a:t>belum</a:t>
            </a:r>
            <a:r>
              <a:rPr lang="en-US" sz="1250" b="0" i="0" dirty="0" smtClean="0">
                <a:solidFill>
                  <a:srgbClr val="9AA4B8"/>
                </a:solidFill>
                <a:latin typeface="Segoe UI"/>
              </a:rPr>
              <a:t> </a:t>
            </a:r>
            <a:r>
              <a:rPr lang="en-US" sz="1250" b="0" i="0" dirty="0" err="1" smtClean="0">
                <a:solidFill>
                  <a:srgbClr val="9AA4B8"/>
                </a:solidFill>
                <a:latin typeface="Segoe UI"/>
              </a:rPr>
              <a:t>menggunakan</a:t>
            </a:r>
            <a:r>
              <a:rPr sz="1250" b="0" i="0" dirty="0" smtClean="0">
                <a:solidFill>
                  <a:srgbClr val="9AA4B8"/>
                </a:solidFill>
                <a:latin typeface="Segoe UI"/>
              </a:rPr>
              <a:t> </a:t>
            </a:r>
            <a:r>
              <a:rPr sz="1250" b="0" i="0" dirty="0">
                <a:solidFill>
                  <a:srgbClr val="9AA4B8"/>
                </a:solidFill>
                <a:latin typeface="Segoe UI"/>
              </a:rPr>
              <a:t>data </a:t>
            </a:r>
            <a:r>
              <a:rPr sz="1250" b="0" i="0" dirty="0" err="1">
                <a:solidFill>
                  <a:srgbClr val="9AA4B8"/>
                </a:solidFill>
                <a:latin typeface="Segoe UI"/>
              </a:rPr>
              <a:t>historis</a:t>
            </a:r>
            <a:r>
              <a:rPr sz="1250" b="0" i="0" dirty="0">
                <a:solidFill>
                  <a:srgbClr val="9AA4B8"/>
                </a:solidFill>
                <a:latin typeface="Segoe UI"/>
              </a:rPr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4608576"/>
            <a:ext cx="25400" cy="566928"/>
          </a:xfrm>
          <a:prstGeom prst="rect">
            <a:avLst/>
          </a:prstGeom>
          <a:solidFill>
            <a:srgbClr val="2B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2" y="4608576"/>
            <a:ext cx="4892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9AA4B8"/>
                </a:solidFill>
                <a:latin typeface="Segoe UI"/>
              </a:rPr>
              <a:t>Bikin draft purchase order &amp; laporan restock masih manual, satu-satu.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16752" y="1965960"/>
            <a:ext cx="5074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2883F"/>
                </a:solidFill>
                <a:latin typeface="Consolas"/>
              </a:rPr>
              <a:t>●  YANG DITAWARKAN PRIMA ASTRO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16752" y="2468880"/>
            <a:ext cx="5074920" cy="621792"/>
          </a:xfrm>
          <a:prstGeom prst="roundRect">
            <a:avLst>
              <a:gd name="adj" fmla="val 12000"/>
            </a:avLst>
          </a:prstGeom>
          <a:solidFill>
            <a:srgbClr val="181D27"/>
          </a:solidFill>
          <a:ln w="13970">
            <a:solidFill>
              <a:srgbClr val="E288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28016" bIns="54864" rtlCol="0" anchor="ctr"/>
          <a:lstStyle/>
          <a:p>
            <a:pPr algn="ctr">
              <a:lnSpc>
                <a:spcPct val="110000"/>
              </a:lnSpc>
            </a:pPr>
            <a:r>
              <a:rPr sz="1250" b="1" dirty="0">
                <a:solidFill>
                  <a:srgbClr val="EEF1F6"/>
                </a:solidFill>
                <a:latin typeface="Segoe UI"/>
              </a:rPr>
              <a:t>Tanya </a:t>
            </a:r>
            <a:r>
              <a:rPr sz="1250" b="1" dirty="0" err="1">
                <a:solidFill>
                  <a:srgbClr val="EEF1F6"/>
                </a:solidFill>
                <a:latin typeface="Segoe UI"/>
              </a:rPr>
              <a:t>pakai</a:t>
            </a:r>
            <a:r>
              <a:rPr sz="1250" b="1" dirty="0">
                <a:solidFill>
                  <a:srgbClr val="EEF1F6"/>
                </a:solidFill>
                <a:latin typeface="Segoe UI"/>
              </a:rPr>
              <a:t> </a:t>
            </a:r>
            <a:r>
              <a:rPr sz="1250" b="1" dirty="0" err="1">
                <a:solidFill>
                  <a:srgbClr val="EEF1F6"/>
                </a:solidFill>
                <a:latin typeface="Segoe UI"/>
              </a:rPr>
              <a:t>bahasa</a:t>
            </a:r>
            <a:r>
              <a:rPr sz="1250" b="1" dirty="0">
                <a:solidFill>
                  <a:srgbClr val="EEF1F6"/>
                </a:solidFill>
                <a:latin typeface="Segoe UI"/>
              </a:rPr>
              <a:t> </a:t>
            </a:r>
            <a:r>
              <a:rPr sz="1250" b="1" dirty="0" err="1">
                <a:solidFill>
                  <a:srgbClr val="EEF1F6"/>
                </a:solidFill>
                <a:latin typeface="Segoe UI"/>
              </a:rPr>
              <a:t>biasa</a:t>
            </a:r>
            <a:r>
              <a:rPr sz="1250" b="1" dirty="0">
                <a:solidFill>
                  <a:srgbClr val="EEF1F6"/>
                </a:solidFill>
                <a:latin typeface="Segoe UI"/>
              </a:rPr>
              <a:t> — </a:t>
            </a:r>
            <a:r>
              <a:rPr sz="1250" dirty="0" err="1">
                <a:solidFill>
                  <a:srgbClr val="9AA4B8"/>
                </a:solidFill>
                <a:latin typeface="Segoe UI"/>
              </a:rPr>
              <a:t>chatbot</a:t>
            </a:r>
            <a:r>
              <a:rPr sz="1250" dirty="0">
                <a:solidFill>
                  <a:srgbClr val="9AA4B8"/>
                </a:solidFill>
                <a:latin typeface="Segoe UI"/>
              </a:rPr>
              <a:t> AI yang </a:t>
            </a:r>
            <a:r>
              <a:rPr sz="1250" dirty="0" err="1" smtClean="0">
                <a:solidFill>
                  <a:srgbClr val="9AA4B8"/>
                </a:solidFill>
                <a:latin typeface="Segoe UI"/>
              </a:rPr>
              <a:t>langsung</a:t>
            </a:r>
            <a:r>
              <a:rPr sz="1250" dirty="0" smtClean="0">
                <a:solidFill>
                  <a:srgbClr val="9AA4B8"/>
                </a:solidFill>
                <a:latin typeface="Segoe UI"/>
              </a:rPr>
              <a:t> </a:t>
            </a:r>
            <a:r>
              <a:rPr lang="en-US" sz="1250" dirty="0" err="1" smtClean="0">
                <a:solidFill>
                  <a:srgbClr val="9AA4B8"/>
                </a:solidFill>
                <a:latin typeface="Segoe UI"/>
              </a:rPr>
              <a:t>meng</a:t>
            </a:r>
            <a:r>
              <a:rPr sz="1250" dirty="0" err="1" smtClean="0">
                <a:solidFill>
                  <a:srgbClr val="9AA4B8"/>
                </a:solidFill>
                <a:latin typeface="Segoe UI"/>
              </a:rPr>
              <a:t>ambil</a:t>
            </a:r>
            <a:r>
              <a:rPr sz="1250" dirty="0" smtClean="0">
                <a:solidFill>
                  <a:srgbClr val="9AA4B8"/>
                </a:solidFill>
                <a:latin typeface="Segoe UI"/>
              </a:rPr>
              <a:t> </a:t>
            </a:r>
            <a:r>
              <a:rPr sz="1250" dirty="0">
                <a:solidFill>
                  <a:srgbClr val="9AA4B8"/>
                </a:solidFill>
                <a:latin typeface="Segoe UI"/>
              </a:rPr>
              <a:t>data </a:t>
            </a:r>
            <a:r>
              <a:rPr sz="1250" dirty="0" err="1">
                <a:solidFill>
                  <a:srgbClr val="9AA4B8"/>
                </a:solidFill>
                <a:latin typeface="Segoe UI"/>
              </a:rPr>
              <a:t>asli</a:t>
            </a:r>
            <a:r>
              <a:rPr sz="1250" dirty="0">
                <a:solidFill>
                  <a:srgbClr val="9AA4B8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9AA4B8"/>
                </a:solidFill>
                <a:latin typeface="Segoe UI"/>
              </a:rPr>
              <a:t>dari</a:t>
            </a:r>
            <a:r>
              <a:rPr sz="1250" dirty="0">
                <a:solidFill>
                  <a:srgbClr val="9AA4B8"/>
                </a:solidFill>
                <a:latin typeface="Segoe UI"/>
              </a:rPr>
              <a:t> </a:t>
            </a:r>
            <a:r>
              <a:rPr sz="1250" dirty="0" smtClean="0">
                <a:solidFill>
                  <a:srgbClr val="9AA4B8"/>
                </a:solidFill>
                <a:latin typeface="Segoe UI"/>
              </a:rPr>
              <a:t>database.</a:t>
            </a:r>
            <a:endParaRPr sz="1250" dirty="0">
              <a:solidFill>
                <a:srgbClr val="9AA4B8"/>
              </a:solidFill>
              <a:latin typeface="Segoe UI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016752" y="3200400"/>
            <a:ext cx="5074920" cy="621792"/>
          </a:xfrm>
          <a:prstGeom prst="roundRect">
            <a:avLst>
              <a:gd name="adj" fmla="val 12000"/>
            </a:avLst>
          </a:prstGeom>
          <a:solidFill>
            <a:srgbClr val="181D27"/>
          </a:solidFill>
          <a:ln w="13970">
            <a:solidFill>
              <a:srgbClr val="E288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28016" bIns="54864" rtlCol="0" anchor="ctr"/>
          <a:lstStyle/>
          <a:p>
            <a:pPr algn="ctr">
              <a:lnSpc>
                <a:spcPct val="110000"/>
              </a:lnSpc>
            </a:pPr>
            <a:r>
              <a:rPr sz="1250" b="1" dirty="0">
                <a:solidFill>
                  <a:srgbClr val="EEF1F6"/>
                </a:solidFill>
                <a:latin typeface="Segoe UI"/>
              </a:rPr>
              <a:t>5 </a:t>
            </a:r>
            <a:r>
              <a:rPr sz="1250" b="1" dirty="0" err="1">
                <a:solidFill>
                  <a:srgbClr val="EEF1F6"/>
                </a:solidFill>
                <a:latin typeface="Segoe UI"/>
              </a:rPr>
              <a:t>agen</a:t>
            </a:r>
            <a:r>
              <a:rPr sz="1250" b="1" dirty="0">
                <a:solidFill>
                  <a:srgbClr val="EEF1F6"/>
                </a:solidFill>
                <a:latin typeface="Segoe UI"/>
              </a:rPr>
              <a:t> </a:t>
            </a:r>
            <a:r>
              <a:rPr sz="1250" b="1" dirty="0" err="1">
                <a:solidFill>
                  <a:srgbClr val="EEF1F6"/>
                </a:solidFill>
                <a:latin typeface="Segoe UI"/>
              </a:rPr>
              <a:t>spesialis</a:t>
            </a:r>
            <a:r>
              <a:rPr sz="1250" b="1" dirty="0">
                <a:solidFill>
                  <a:srgbClr val="EEF1F6"/>
                </a:solidFill>
                <a:latin typeface="Segoe UI"/>
              </a:rPr>
              <a:t> — </a:t>
            </a:r>
            <a:r>
              <a:rPr sz="1250" dirty="0" err="1">
                <a:solidFill>
                  <a:srgbClr val="9AA4B8"/>
                </a:solidFill>
                <a:latin typeface="Segoe UI"/>
              </a:rPr>
              <a:t>masing-masing</a:t>
            </a:r>
            <a:r>
              <a:rPr sz="1250" dirty="0">
                <a:solidFill>
                  <a:srgbClr val="9AA4B8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9AA4B8"/>
                </a:solidFill>
                <a:latin typeface="Segoe UI"/>
              </a:rPr>
              <a:t>fokus</a:t>
            </a:r>
            <a:r>
              <a:rPr sz="1250" dirty="0">
                <a:solidFill>
                  <a:srgbClr val="9AA4B8"/>
                </a:solidFill>
                <a:latin typeface="Segoe UI"/>
              </a:rPr>
              <a:t> di </a:t>
            </a:r>
            <a:r>
              <a:rPr sz="1250" dirty="0" err="1">
                <a:solidFill>
                  <a:srgbClr val="9AA4B8"/>
                </a:solidFill>
                <a:latin typeface="Segoe UI"/>
              </a:rPr>
              <a:t>satu</a:t>
            </a:r>
            <a:r>
              <a:rPr sz="1250" dirty="0">
                <a:solidFill>
                  <a:srgbClr val="9AA4B8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9AA4B8"/>
                </a:solidFill>
                <a:latin typeface="Segoe UI"/>
              </a:rPr>
              <a:t>urusan</a:t>
            </a:r>
            <a:r>
              <a:rPr sz="1250" dirty="0">
                <a:solidFill>
                  <a:srgbClr val="9AA4B8"/>
                </a:solidFill>
                <a:latin typeface="Segoe UI"/>
              </a:rPr>
              <a:t>: </a:t>
            </a:r>
            <a:r>
              <a:rPr sz="1250" dirty="0" err="1">
                <a:solidFill>
                  <a:srgbClr val="9AA4B8"/>
                </a:solidFill>
                <a:latin typeface="Segoe UI"/>
              </a:rPr>
              <a:t>stok</a:t>
            </a:r>
            <a:r>
              <a:rPr sz="1250" dirty="0">
                <a:solidFill>
                  <a:srgbClr val="9AA4B8"/>
                </a:solidFill>
                <a:latin typeface="Segoe UI"/>
              </a:rPr>
              <a:t>, </a:t>
            </a:r>
            <a:r>
              <a:rPr sz="1250" dirty="0" err="1">
                <a:solidFill>
                  <a:srgbClr val="9AA4B8"/>
                </a:solidFill>
                <a:latin typeface="Segoe UI"/>
              </a:rPr>
              <a:t>transaksi</a:t>
            </a:r>
            <a:r>
              <a:rPr sz="1250" dirty="0">
                <a:solidFill>
                  <a:srgbClr val="9AA4B8"/>
                </a:solidFill>
                <a:latin typeface="Segoe UI"/>
              </a:rPr>
              <a:t>, </a:t>
            </a:r>
            <a:r>
              <a:rPr sz="1250" dirty="0" err="1">
                <a:solidFill>
                  <a:srgbClr val="9AA4B8"/>
                </a:solidFill>
                <a:latin typeface="Segoe UI"/>
              </a:rPr>
              <a:t>tren</a:t>
            </a:r>
            <a:r>
              <a:rPr sz="1250" dirty="0">
                <a:solidFill>
                  <a:srgbClr val="9AA4B8"/>
                </a:solidFill>
                <a:latin typeface="Segoe UI"/>
              </a:rPr>
              <a:t>, </a:t>
            </a:r>
            <a:r>
              <a:rPr sz="1250" dirty="0" err="1">
                <a:solidFill>
                  <a:srgbClr val="9AA4B8"/>
                </a:solidFill>
                <a:latin typeface="Segoe UI"/>
              </a:rPr>
              <a:t>pembelian</a:t>
            </a:r>
            <a:r>
              <a:rPr sz="1250" dirty="0">
                <a:solidFill>
                  <a:srgbClr val="9AA4B8"/>
                </a:solidFill>
                <a:latin typeface="Segoe UI"/>
              </a:rPr>
              <a:t>, </a:t>
            </a:r>
            <a:r>
              <a:rPr sz="1250" dirty="0" err="1">
                <a:solidFill>
                  <a:srgbClr val="9AA4B8"/>
                </a:solidFill>
                <a:latin typeface="Segoe UI"/>
              </a:rPr>
              <a:t>harga</a:t>
            </a:r>
            <a:r>
              <a:rPr sz="1250" dirty="0">
                <a:solidFill>
                  <a:srgbClr val="9AA4B8"/>
                </a:solidFill>
                <a:latin typeface="Segoe UI"/>
              </a:rPr>
              <a:t>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16752" y="3931920"/>
            <a:ext cx="5074920" cy="621792"/>
          </a:xfrm>
          <a:prstGeom prst="roundRect">
            <a:avLst>
              <a:gd name="adj" fmla="val 12000"/>
            </a:avLst>
          </a:prstGeom>
          <a:solidFill>
            <a:srgbClr val="181D27"/>
          </a:solidFill>
          <a:ln w="13970">
            <a:solidFill>
              <a:srgbClr val="E288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28016" bIns="54864" rtlCol="0" anchor="ctr"/>
          <a:lstStyle/>
          <a:p>
            <a:pPr algn="ctr">
              <a:lnSpc>
                <a:spcPct val="110000"/>
              </a:lnSpc>
            </a:pPr>
            <a:r>
              <a:rPr sz="1250" b="1" dirty="0" err="1">
                <a:solidFill>
                  <a:srgbClr val="EEF1F6"/>
                </a:solidFill>
                <a:latin typeface="Segoe UI"/>
              </a:rPr>
              <a:t>Prediksi</a:t>
            </a:r>
            <a:r>
              <a:rPr sz="1250" b="1" dirty="0">
                <a:solidFill>
                  <a:srgbClr val="EEF1F6"/>
                </a:solidFill>
                <a:latin typeface="Segoe UI"/>
              </a:rPr>
              <a:t> </a:t>
            </a:r>
            <a:r>
              <a:rPr sz="1250" b="1" dirty="0" err="1">
                <a:solidFill>
                  <a:srgbClr val="EEF1F6"/>
                </a:solidFill>
                <a:latin typeface="Segoe UI"/>
              </a:rPr>
              <a:t>statistik</a:t>
            </a:r>
            <a:r>
              <a:rPr sz="1250" b="1" dirty="0">
                <a:solidFill>
                  <a:srgbClr val="EEF1F6"/>
                </a:solidFill>
                <a:latin typeface="Segoe UI"/>
              </a:rPr>
              <a:t> — </a:t>
            </a:r>
            <a:r>
              <a:rPr lang="en-US" sz="1250" dirty="0" err="1" smtClean="0">
                <a:solidFill>
                  <a:srgbClr val="9AA4B8"/>
                </a:solidFill>
                <a:latin typeface="Segoe UI"/>
              </a:rPr>
              <a:t>mem</a:t>
            </a:r>
            <a:r>
              <a:rPr sz="1250" dirty="0" err="1" smtClean="0">
                <a:solidFill>
                  <a:srgbClr val="9AA4B8"/>
                </a:solidFill>
                <a:latin typeface="Segoe UI"/>
              </a:rPr>
              <a:t>akai</a:t>
            </a:r>
            <a:r>
              <a:rPr sz="1250" dirty="0" smtClean="0">
                <a:solidFill>
                  <a:srgbClr val="9AA4B8"/>
                </a:solidFill>
                <a:latin typeface="Segoe UI"/>
              </a:rPr>
              <a:t> </a:t>
            </a:r>
            <a:r>
              <a:rPr sz="1250" dirty="0">
                <a:solidFill>
                  <a:srgbClr val="9AA4B8"/>
                </a:solidFill>
                <a:latin typeface="Segoe UI"/>
              </a:rPr>
              <a:t>Facebook Prophet, </a:t>
            </a:r>
            <a:r>
              <a:rPr sz="1250" dirty="0" err="1">
                <a:solidFill>
                  <a:srgbClr val="9AA4B8"/>
                </a:solidFill>
                <a:latin typeface="Segoe UI"/>
              </a:rPr>
              <a:t>bukan</a:t>
            </a:r>
            <a:r>
              <a:rPr sz="1250" dirty="0">
                <a:solidFill>
                  <a:srgbClr val="9AA4B8"/>
                </a:solidFill>
                <a:latin typeface="Segoe UI"/>
              </a:rPr>
              <a:t> feeling.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16752" y="4663440"/>
            <a:ext cx="5074920" cy="621792"/>
          </a:xfrm>
          <a:prstGeom prst="roundRect">
            <a:avLst>
              <a:gd name="adj" fmla="val 12000"/>
            </a:avLst>
          </a:prstGeom>
          <a:solidFill>
            <a:srgbClr val="181D27"/>
          </a:solidFill>
          <a:ln w="13970">
            <a:solidFill>
              <a:srgbClr val="E288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28016" bIns="54864" rtlCol="0" anchor="ctr"/>
          <a:lstStyle/>
          <a:p>
            <a:pPr algn="ctr">
              <a:lnSpc>
                <a:spcPct val="110000"/>
              </a:lnSpc>
            </a:pPr>
            <a:r>
              <a:rPr sz="1250" b="1" dirty="0">
                <a:solidFill>
                  <a:srgbClr val="EEF1F6"/>
                </a:solidFill>
                <a:latin typeface="Segoe UI"/>
              </a:rPr>
              <a:t>Draft PO &amp; </a:t>
            </a:r>
            <a:r>
              <a:rPr sz="1250" b="1" dirty="0" err="1">
                <a:solidFill>
                  <a:srgbClr val="EEF1F6"/>
                </a:solidFill>
                <a:latin typeface="Segoe UI"/>
              </a:rPr>
              <a:t>notifikasi</a:t>
            </a:r>
            <a:r>
              <a:rPr sz="1250" b="1" dirty="0">
                <a:solidFill>
                  <a:srgbClr val="EEF1F6"/>
                </a:solidFill>
                <a:latin typeface="Segoe UI"/>
              </a:rPr>
              <a:t> — </a:t>
            </a:r>
            <a:r>
              <a:rPr lang="en-US" sz="1250" dirty="0" err="1" smtClean="0">
                <a:solidFill>
                  <a:srgbClr val="9AA4B8"/>
                </a:solidFill>
                <a:latin typeface="Segoe UI"/>
              </a:rPr>
              <a:t>berj</a:t>
            </a:r>
            <a:r>
              <a:rPr sz="1250" dirty="0" err="1" smtClean="0">
                <a:solidFill>
                  <a:srgbClr val="9AA4B8"/>
                </a:solidFill>
                <a:latin typeface="Segoe UI"/>
              </a:rPr>
              <a:t>alan</a:t>
            </a:r>
            <a:r>
              <a:rPr sz="1250" dirty="0" smtClean="0">
                <a:solidFill>
                  <a:srgbClr val="9AA4B8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9AA4B8"/>
                </a:solidFill>
                <a:latin typeface="Segoe UI"/>
              </a:rPr>
              <a:t>otomatis</a:t>
            </a:r>
            <a:r>
              <a:rPr sz="1250" dirty="0">
                <a:solidFill>
                  <a:srgbClr val="9AA4B8"/>
                </a:solidFill>
                <a:latin typeface="Segoe UI"/>
              </a:rPr>
              <a:t> di </a:t>
            </a:r>
            <a:r>
              <a:rPr sz="1250" dirty="0" err="1">
                <a:solidFill>
                  <a:srgbClr val="9AA4B8"/>
                </a:solidFill>
                <a:latin typeface="Segoe UI"/>
              </a:rPr>
              <a:t>belakang</a:t>
            </a:r>
            <a:r>
              <a:rPr sz="1250" dirty="0">
                <a:solidFill>
                  <a:srgbClr val="9AA4B8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9AA4B8"/>
                </a:solidFill>
                <a:latin typeface="Segoe UI"/>
              </a:rPr>
              <a:t>layar</a:t>
            </a:r>
            <a:r>
              <a:rPr sz="1250" dirty="0">
                <a:solidFill>
                  <a:srgbClr val="9AA4B8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9AA4B8"/>
                </a:solidFill>
                <a:latin typeface="Segoe UI"/>
              </a:rPr>
              <a:t>lewat</a:t>
            </a:r>
            <a:r>
              <a:rPr sz="1250" dirty="0">
                <a:solidFill>
                  <a:srgbClr val="9AA4B8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9AA4B8"/>
                </a:solidFill>
                <a:latin typeface="Segoe UI"/>
              </a:rPr>
              <a:t>antrian</a:t>
            </a:r>
            <a:r>
              <a:rPr sz="1250" dirty="0">
                <a:solidFill>
                  <a:srgbClr val="9AA4B8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2883F"/>
                </a:solidFill>
                <a:latin typeface="Consolas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457200"/>
            <a:ext cx="54864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200" dirty="0">
                <a:solidFill>
                  <a:srgbClr val="6B7488"/>
                </a:solidFill>
                <a:latin typeface="Consolas"/>
              </a:rPr>
              <a:t>Prima ASTRO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804672"/>
            <a:ext cx="10908792" cy="0"/>
          </a:xfrm>
          <a:prstGeom prst="line">
            <a:avLst/>
          </a:prstGeom>
          <a:ln w="9525">
            <a:solidFill>
              <a:srgbClr val="2B32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21792" y="91440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EEF1F6"/>
                </a:solidFill>
                <a:latin typeface="Arial Black"/>
              </a:rPr>
              <a:t>Arsitektur Singkat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027" y="2103120"/>
            <a:ext cx="2331720" cy="1051560"/>
          </a:xfrm>
          <a:prstGeom prst="roundRect">
            <a:avLst>
              <a:gd name="adj" fmla="val 14000"/>
            </a:avLst>
          </a:prstGeom>
          <a:solidFill>
            <a:srgbClr val="181D27"/>
          </a:solidFill>
          <a:ln w="15240">
            <a:solidFill>
              <a:srgbClr val="2B32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rIns="109728" rtlCol="0" anchor="ctr"/>
          <a:lstStyle/>
          <a:p>
            <a:pPr algn="ctr"/>
            <a:r>
              <a:rPr sz="950">
                <a:solidFill>
                  <a:srgbClr val="6B7488"/>
                </a:solidFill>
                <a:latin typeface="Consolas"/>
              </a:rPr>
              <a:t>MASUK DARI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EEF1F6"/>
                </a:solidFill>
                <a:latin typeface="Segoe UI"/>
              </a:rPr>
              <a:t>Web · Telegram
REST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09747" y="2103120"/>
            <a:ext cx="50292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0" i="0">
                <a:solidFill>
                  <a:srgbClr val="6B7488"/>
                </a:solidFill>
                <a:latin typeface="Segoe U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2667" y="2103120"/>
            <a:ext cx="2331720" cy="1051560"/>
          </a:xfrm>
          <a:prstGeom prst="roundRect">
            <a:avLst>
              <a:gd name="adj" fmla="val 14000"/>
            </a:avLst>
          </a:prstGeom>
          <a:solidFill>
            <a:srgbClr val="3A2C1C"/>
          </a:solidFill>
          <a:ln w="15240">
            <a:solidFill>
              <a:srgbClr val="E288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rIns="109728" rtlCol="0" anchor="ctr"/>
          <a:lstStyle/>
          <a:p>
            <a:pPr algn="ctr"/>
            <a:r>
              <a:rPr sz="950">
                <a:solidFill>
                  <a:srgbClr val="6B7488"/>
                </a:solidFill>
                <a:latin typeface="Consolas"/>
              </a:rPr>
              <a:t>ANTRIAN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EEF1F6"/>
                </a:solidFill>
                <a:latin typeface="Segoe UI"/>
              </a:rPr>
              <a:t>Celery + Redis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4387" y="2103120"/>
            <a:ext cx="50292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0" i="0">
                <a:solidFill>
                  <a:srgbClr val="6B7488"/>
                </a:solidFill>
                <a:latin typeface="Segoe U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47307" y="2103120"/>
            <a:ext cx="2331720" cy="1051560"/>
          </a:xfrm>
          <a:prstGeom prst="roundRect">
            <a:avLst>
              <a:gd name="adj" fmla="val 14000"/>
            </a:avLst>
          </a:prstGeom>
          <a:solidFill>
            <a:srgbClr val="181D27"/>
          </a:solidFill>
          <a:ln w="15240">
            <a:solidFill>
              <a:srgbClr val="2B32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rIns="109728" rtlCol="0" anchor="ctr"/>
          <a:lstStyle/>
          <a:p>
            <a:pPr algn="ctr"/>
            <a:r>
              <a:rPr sz="950">
                <a:solidFill>
                  <a:srgbClr val="6B7488"/>
                </a:solidFill>
                <a:latin typeface="Consolas"/>
              </a:rPr>
              <a:t>OTAK SISTEM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EEF1F6"/>
                </a:solidFill>
                <a:latin typeface="Segoe UI"/>
              </a:rPr>
              <a:t>CrewAI Crew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79027" y="2103120"/>
            <a:ext cx="50292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0" i="0">
                <a:solidFill>
                  <a:srgbClr val="6B7488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81947" y="2103120"/>
            <a:ext cx="2331720" cy="1051560"/>
          </a:xfrm>
          <a:prstGeom prst="roundRect">
            <a:avLst>
              <a:gd name="adj" fmla="val 14000"/>
            </a:avLst>
          </a:prstGeom>
          <a:solidFill>
            <a:srgbClr val="181D27"/>
          </a:solidFill>
          <a:ln w="15240">
            <a:solidFill>
              <a:srgbClr val="2B32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rIns="109728" rtlCol="0" anchor="ctr"/>
          <a:lstStyle/>
          <a:p>
            <a:pPr algn="ctr"/>
            <a:r>
              <a:rPr sz="950">
                <a:solidFill>
                  <a:srgbClr val="6B7488"/>
                </a:solidFill>
                <a:latin typeface="Consolas"/>
              </a:rPr>
              <a:t>SUMBER DATA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EEF1F6"/>
                </a:solidFill>
                <a:latin typeface="Segoe UI"/>
              </a:rPr>
              <a:t>SQLite
(stok + transaksi)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794760"/>
            <a:ext cx="3429000" cy="1783080"/>
          </a:xfrm>
          <a:prstGeom prst="roundRect">
            <a:avLst>
              <a:gd name="adj" fmla="val 8000"/>
            </a:avLst>
          </a:prstGeom>
          <a:solidFill>
            <a:srgbClr val="181D27"/>
          </a:solidFill>
          <a:ln w="12700">
            <a:solidFill>
              <a:srgbClr val="2B32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rtlCol="0" anchor="ctr"/>
          <a:lstStyle/>
          <a:p>
            <a:pPr algn="ctr"/>
            <a:r>
              <a:rPr sz="1000" b="1">
                <a:solidFill>
                  <a:srgbClr val="57C7BB"/>
                </a:solidFill>
                <a:latin typeface="Consolas"/>
              </a:rPr>
              <a:t>KENAPA PAKAI ANTRIAN</a:t>
            </a:r>
          </a:p>
          <a:p>
            <a:pPr>
              <a:lnSpc>
                <a:spcPct val="120000"/>
              </a:lnSpc>
              <a:spcBef>
                <a:spcPts val="800"/>
              </a:spcBef>
            </a:pPr>
            <a:r>
              <a:rPr sz="1200">
                <a:solidFill>
                  <a:srgbClr val="9AA4B8"/>
                </a:solidFill>
                <a:latin typeface="Segoe UI"/>
              </a:rPr>
              <a:t>Web dan Telegram bisa dipakai bersamaan, tapi tiap pertanyaan tetap diproses satu-satu lewat Redis — biar gak rebutan kuota LLM yang sama.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3794760"/>
            <a:ext cx="3429000" cy="1783080"/>
          </a:xfrm>
          <a:prstGeom prst="roundRect">
            <a:avLst>
              <a:gd name="adj" fmla="val 8000"/>
            </a:avLst>
          </a:prstGeom>
          <a:solidFill>
            <a:srgbClr val="181D27"/>
          </a:solidFill>
          <a:ln w="12700">
            <a:solidFill>
              <a:srgbClr val="2B32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rtlCol="0" anchor="ctr"/>
          <a:lstStyle/>
          <a:p>
            <a:pPr algn="ctr"/>
            <a:r>
              <a:rPr sz="1000" b="1">
                <a:solidFill>
                  <a:srgbClr val="57C7BB"/>
                </a:solidFill>
                <a:latin typeface="Consolas"/>
              </a:rPr>
              <a:t>CELERY BEAT</a:t>
            </a:r>
          </a:p>
          <a:p>
            <a:pPr>
              <a:lnSpc>
                <a:spcPct val="120000"/>
              </a:lnSpc>
              <a:spcBef>
                <a:spcPts val="800"/>
              </a:spcBef>
            </a:pPr>
            <a:r>
              <a:rPr sz="1200">
                <a:solidFill>
                  <a:srgbClr val="9AA4B8"/>
                </a:solidFill>
                <a:latin typeface="Segoe UI"/>
              </a:rPr>
              <a:t>Proses terjadwal tambahan yang jalan tiap pagi, ngecek stok kritis dan kirim notifikasi ke Telegram tanpa harus ada yang tanya duluan.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8" y="3794760"/>
            <a:ext cx="3429000" cy="1783080"/>
          </a:xfrm>
          <a:prstGeom prst="roundRect">
            <a:avLst>
              <a:gd name="adj" fmla="val 8000"/>
            </a:avLst>
          </a:prstGeom>
          <a:solidFill>
            <a:srgbClr val="181D27"/>
          </a:solidFill>
          <a:ln w="12700">
            <a:solidFill>
              <a:srgbClr val="2B32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rtlCol="0" anchor="ctr"/>
          <a:lstStyle/>
          <a:p>
            <a:pPr algn="ctr"/>
            <a:r>
              <a:rPr sz="1000" b="1">
                <a:solidFill>
                  <a:srgbClr val="57C7BB"/>
                </a:solidFill>
                <a:latin typeface="Consolas"/>
              </a:rPr>
              <a:t>PILIHAN LLM</a:t>
            </a:r>
          </a:p>
          <a:p>
            <a:pPr>
              <a:lnSpc>
                <a:spcPct val="120000"/>
              </a:lnSpc>
              <a:spcBef>
                <a:spcPts val="800"/>
              </a:spcBef>
            </a:pPr>
            <a:r>
              <a:rPr sz="1200">
                <a:solidFill>
                  <a:srgbClr val="9AA4B8"/>
                </a:solidFill>
                <a:latin typeface="Segoe UI"/>
              </a:rPr>
              <a:t>Bisa pakai Gemini 2.5 Flash (cloud, cepat) atau Ollama Llama 3.1 (lokal, offline) — tinggal ganti satu baris di .env.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2883F"/>
                </a:solidFill>
                <a:latin typeface="Consolas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457200"/>
            <a:ext cx="54864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200" dirty="0">
                <a:solidFill>
                  <a:srgbClr val="6B7488"/>
                </a:solidFill>
                <a:latin typeface="Consolas"/>
              </a:rPr>
              <a:t>Prima ASTRO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804672"/>
            <a:ext cx="10908792" cy="0"/>
          </a:xfrm>
          <a:prstGeom prst="line">
            <a:avLst/>
          </a:prstGeom>
          <a:ln w="9525">
            <a:solidFill>
              <a:srgbClr val="2B32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21792" y="91440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EEF1F6"/>
                </a:solidFill>
                <a:latin typeface="Arial Black"/>
              </a:rPr>
              <a:t>5 Agen Spesialis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874519"/>
            <a:ext cx="10927080" cy="621792"/>
          </a:xfrm>
          <a:prstGeom prst="roundRect">
            <a:avLst>
              <a:gd name="adj" fmla="val 15000"/>
            </a:avLst>
          </a:prstGeom>
          <a:solidFill>
            <a:srgbClr val="181D27"/>
          </a:solidFill>
          <a:ln w="12700">
            <a:solidFill>
              <a:srgbClr val="2B32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050" b="1">
                <a:solidFill>
                  <a:srgbClr val="E2883F"/>
                </a:solidFill>
                <a:latin typeface="Consolas"/>
              </a:rPr>
              <a:t>MANAGER AGENT   </a:t>
            </a:r>
            <a:r>
              <a:rPr sz="1200">
                <a:solidFill>
                  <a:srgbClr val="9AA4B8"/>
                </a:solidFill>
                <a:latin typeface="Segoe UI"/>
              </a:rPr>
              <a:t>Terima tiap pertanyaan lebih dulu, lalu memutuskan mau didelegasikan ke agen spesialis yang mana — satu atau lebih sekaligus.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697480"/>
            <a:ext cx="2093976" cy="3520440"/>
          </a:xfrm>
          <a:prstGeom prst="roundRect">
            <a:avLst>
              <a:gd name="adj" fmla="val 8000"/>
            </a:avLst>
          </a:prstGeom>
          <a:solidFill>
            <a:srgbClr val="181D27"/>
          </a:solidFill>
          <a:ln w="12700">
            <a:solidFill>
              <a:srgbClr val="2B32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28016" rtlCol="0" anchor="ctr"/>
          <a:lstStyle/>
          <a:p>
            <a:pPr algn="ctr"/>
            <a:r>
              <a:rPr sz="1000">
                <a:solidFill>
                  <a:srgbClr val="6B7488"/>
                </a:solidFill>
                <a:latin typeface="Consolas"/>
              </a:rPr>
              <a:t>01</a:t>
            </a:r>
          </a:p>
          <a:p>
            <a:pPr>
              <a:lnSpc>
                <a:spcPct val="105000"/>
              </a:lnSpc>
              <a:spcBef>
                <a:spcPts val="800"/>
              </a:spcBef>
            </a:pPr>
            <a:r>
              <a:rPr sz="1450" b="1">
                <a:solidFill>
                  <a:srgbClr val="EEF1F6"/>
                </a:solidFill>
                <a:latin typeface="Segoe UI"/>
              </a:rPr>
              <a:t>Stock Specialist</a:t>
            </a:r>
          </a:p>
          <a:p>
            <a:pPr>
              <a:lnSpc>
                <a:spcPct val="120000"/>
              </a:lnSpc>
              <a:spcBef>
                <a:spcPts val="800"/>
              </a:spcBef>
            </a:pPr>
            <a:r>
              <a:rPr sz="1080">
                <a:solidFill>
                  <a:srgbClr val="9AA4B8"/>
                </a:solidFill>
                <a:latin typeface="Segoe UI"/>
              </a:rPr>
              <a:t>Ngecek sisa stok (SOH) dan nandain barang yang statusnya warning atau danger.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4932" y="2697480"/>
            <a:ext cx="2093976" cy="3520440"/>
          </a:xfrm>
          <a:prstGeom prst="roundRect">
            <a:avLst>
              <a:gd name="adj" fmla="val 8000"/>
            </a:avLst>
          </a:prstGeom>
          <a:solidFill>
            <a:srgbClr val="181D27"/>
          </a:solidFill>
          <a:ln w="12700">
            <a:solidFill>
              <a:srgbClr val="2B32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28016" rtlCol="0" anchor="ctr"/>
          <a:lstStyle/>
          <a:p>
            <a:pPr algn="ctr"/>
            <a:r>
              <a:rPr sz="1000">
                <a:solidFill>
                  <a:srgbClr val="6B7488"/>
                </a:solidFill>
                <a:latin typeface="Consolas"/>
              </a:rPr>
              <a:t>02</a:t>
            </a:r>
          </a:p>
          <a:p>
            <a:pPr>
              <a:lnSpc>
                <a:spcPct val="105000"/>
              </a:lnSpc>
              <a:spcBef>
                <a:spcPts val="800"/>
              </a:spcBef>
            </a:pPr>
            <a:r>
              <a:rPr sz="1450" b="1">
                <a:solidFill>
                  <a:srgbClr val="EEF1F6"/>
                </a:solidFill>
                <a:latin typeface="Segoe UI"/>
              </a:rPr>
              <a:t>Transaction Specialist</a:t>
            </a:r>
          </a:p>
          <a:p>
            <a:pPr>
              <a:lnSpc>
                <a:spcPct val="120000"/>
              </a:lnSpc>
              <a:spcBef>
                <a:spcPts val="800"/>
              </a:spcBef>
            </a:pPr>
            <a:r>
              <a:rPr sz="1080">
                <a:solidFill>
                  <a:srgbClr val="9AA4B8"/>
                </a:solidFill>
                <a:latin typeface="Segoe UI"/>
              </a:rPr>
              <a:t>Lacak riwayat barang keluar, dan cari tahu departemen/PIC pemakai terbanyak.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48072" y="2697480"/>
            <a:ext cx="2093976" cy="3520440"/>
          </a:xfrm>
          <a:prstGeom prst="roundRect">
            <a:avLst>
              <a:gd name="adj" fmla="val 8000"/>
            </a:avLst>
          </a:prstGeom>
          <a:solidFill>
            <a:srgbClr val="181D27"/>
          </a:solidFill>
          <a:ln w="12700">
            <a:solidFill>
              <a:srgbClr val="2B32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28016" rtlCol="0" anchor="ctr"/>
          <a:lstStyle/>
          <a:p>
            <a:pPr algn="ctr"/>
            <a:r>
              <a:rPr sz="1000">
                <a:solidFill>
                  <a:srgbClr val="6B7488"/>
                </a:solidFill>
                <a:latin typeface="Consolas"/>
              </a:rPr>
              <a:t>03</a:t>
            </a:r>
          </a:p>
          <a:p>
            <a:pPr>
              <a:lnSpc>
                <a:spcPct val="105000"/>
              </a:lnSpc>
              <a:spcBef>
                <a:spcPts val="800"/>
              </a:spcBef>
            </a:pPr>
            <a:r>
              <a:rPr sz="1450" b="1">
                <a:solidFill>
                  <a:srgbClr val="EEF1F6"/>
                </a:solidFill>
                <a:latin typeface="Segoe UI"/>
              </a:rPr>
              <a:t>Analytics Specialist</a:t>
            </a:r>
          </a:p>
          <a:p>
            <a:pPr>
              <a:lnSpc>
                <a:spcPct val="120000"/>
              </a:lnSpc>
              <a:spcBef>
                <a:spcPts val="800"/>
              </a:spcBef>
            </a:pPr>
            <a:r>
              <a:rPr sz="1080">
                <a:solidFill>
                  <a:srgbClr val="9AA4B8"/>
                </a:solidFill>
                <a:latin typeface="Segoe UI"/>
              </a:rPr>
              <a:t>Analisa tren pemakaian dan prediksi kebutuhan 30 hari ke depan pakai Prophet.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11212" y="2697480"/>
            <a:ext cx="2093976" cy="3520440"/>
          </a:xfrm>
          <a:prstGeom prst="roundRect">
            <a:avLst>
              <a:gd name="adj" fmla="val 8000"/>
            </a:avLst>
          </a:prstGeom>
          <a:solidFill>
            <a:srgbClr val="181D27"/>
          </a:solidFill>
          <a:ln w="12700">
            <a:solidFill>
              <a:srgbClr val="2B32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28016" rtlCol="0" anchor="ctr"/>
          <a:lstStyle/>
          <a:p>
            <a:pPr algn="ctr"/>
            <a:r>
              <a:rPr sz="1000">
                <a:solidFill>
                  <a:srgbClr val="6B7488"/>
                </a:solidFill>
                <a:latin typeface="Consolas"/>
              </a:rPr>
              <a:t>04</a:t>
            </a:r>
          </a:p>
          <a:p>
            <a:pPr>
              <a:lnSpc>
                <a:spcPct val="105000"/>
              </a:lnSpc>
              <a:spcBef>
                <a:spcPts val="800"/>
              </a:spcBef>
            </a:pPr>
            <a:r>
              <a:rPr sz="1450" b="1">
                <a:solidFill>
                  <a:srgbClr val="EEF1F6"/>
                </a:solidFill>
                <a:latin typeface="Segoe UI"/>
              </a:rPr>
              <a:t>Purchasing Specialist</a:t>
            </a:r>
          </a:p>
          <a:p>
            <a:pPr>
              <a:lnSpc>
                <a:spcPct val="120000"/>
              </a:lnSpc>
              <a:spcBef>
                <a:spcPts val="800"/>
              </a:spcBef>
            </a:pPr>
            <a:r>
              <a:rPr sz="1080">
                <a:solidFill>
                  <a:srgbClr val="9AA4B8"/>
                </a:solidFill>
                <a:latin typeface="Segoe UI"/>
              </a:rPr>
              <a:t>Ubah alert restock jadi draft purchase order — qty ikut MOQ, plus estimasi biaya.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74352" y="2697480"/>
            <a:ext cx="2093976" cy="3520440"/>
          </a:xfrm>
          <a:prstGeom prst="roundRect">
            <a:avLst>
              <a:gd name="adj" fmla="val 8000"/>
            </a:avLst>
          </a:prstGeom>
          <a:solidFill>
            <a:srgbClr val="181D27"/>
          </a:solidFill>
          <a:ln w="12700">
            <a:solidFill>
              <a:srgbClr val="2B32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28016" rtlCol="0" anchor="ctr"/>
          <a:lstStyle/>
          <a:p>
            <a:pPr algn="ctr"/>
            <a:r>
              <a:rPr sz="1000">
                <a:solidFill>
                  <a:srgbClr val="6B7488"/>
                </a:solidFill>
                <a:latin typeface="Consolas"/>
              </a:rPr>
              <a:t>05</a:t>
            </a:r>
          </a:p>
          <a:p>
            <a:pPr>
              <a:lnSpc>
                <a:spcPct val="105000"/>
              </a:lnSpc>
              <a:spcBef>
                <a:spcPts val="800"/>
              </a:spcBef>
            </a:pPr>
            <a:r>
              <a:rPr sz="1450" b="1">
                <a:solidFill>
                  <a:srgbClr val="EEF1F6"/>
                </a:solidFill>
                <a:latin typeface="Segoe UI"/>
              </a:rPr>
              <a:t>Cost Insight Specialist</a:t>
            </a:r>
          </a:p>
          <a:p>
            <a:pPr>
              <a:lnSpc>
                <a:spcPct val="120000"/>
              </a:lnSpc>
              <a:spcBef>
                <a:spcPts val="800"/>
              </a:spcBef>
            </a:pPr>
            <a:r>
              <a:rPr sz="1080">
                <a:solidFill>
                  <a:srgbClr val="9AA4B8"/>
                </a:solidFill>
                <a:latin typeface="Segoe UI"/>
              </a:rPr>
              <a:t>Jawab soal harga: item termahal, dan item dengan nilai stok tersimpan terbesar.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" y="5705856"/>
            <a:ext cx="1068019" cy="329184"/>
          </a:xfrm>
          <a:prstGeom prst="roundRect">
            <a:avLst>
              <a:gd name="adj" fmla="val 50000"/>
            </a:avLst>
          </a:prstGeom>
          <a:solidFill>
            <a:srgbClr val="1B302E"/>
          </a:solidFill>
          <a:ln w="12700">
            <a:solidFill>
              <a:srgbClr val="57C7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0" rIns="128016" bIns="0" rtlCol="0" anchor="ctr"/>
          <a:lstStyle/>
          <a:p>
            <a:pPr algn="ctr"/>
            <a:r>
              <a:rPr sz="950">
                <a:solidFill>
                  <a:srgbClr val="57C7BB"/>
                </a:solidFill>
                <a:latin typeface="Consolas"/>
              </a:rPr>
              <a:t>Check Stock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31236" y="5705856"/>
            <a:ext cx="907084" cy="329184"/>
          </a:xfrm>
          <a:prstGeom prst="roundRect">
            <a:avLst>
              <a:gd name="adj" fmla="val 50000"/>
            </a:avLst>
          </a:prstGeom>
          <a:solidFill>
            <a:srgbClr val="1B302E"/>
          </a:solidFill>
          <a:ln w="12700">
            <a:solidFill>
              <a:srgbClr val="57C7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0" rIns="128016" bIns="0" rtlCol="0" anchor="ctr"/>
          <a:lstStyle/>
          <a:p>
            <a:pPr algn="ctr"/>
            <a:r>
              <a:rPr sz="950">
                <a:solidFill>
                  <a:srgbClr val="57C7BB"/>
                </a:solidFill>
                <a:latin typeface="Consolas"/>
              </a:rPr>
              <a:t>Top Users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94376" y="5705856"/>
            <a:ext cx="1228953" cy="329184"/>
          </a:xfrm>
          <a:prstGeom prst="roundRect">
            <a:avLst>
              <a:gd name="adj" fmla="val 50000"/>
            </a:avLst>
          </a:prstGeom>
          <a:solidFill>
            <a:srgbClr val="1B302E"/>
          </a:solidFill>
          <a:ln w="12700">
            <a:solidFill>
              <a:srgbClr val="57C7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0" rIns="128016" bIns="0" rtlCol="0" anchor="ctr"/>
          <a:lstStyle/>
          <a:p>
            <a:pPr algn="ctr"/>
            <a:r>
              <a:rPr sz="950">
                <a:solidFill>
                  <a:srgbClr val="57C7BB"/>
                </a:solidFill>
                <a:latin typeface="Consolas"/>
              </a:rPr>
              <a:t>Predict Needs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57516" y="5705856"/>
            <a:ext cx="826617" cy="329184"/>
          </a:xfrm>
          <a:prstGeom prst="roundRect">
            <a:avLst>
              <a:gd name="adj" fmla="val 50000"/>
            </a:avLst>
          </a:prstGeom>
          <a:solidFill>
            <a:srgbClr val="1B302E"/>
          </a:solidFill>
          <a:ln w="12700">
            <a:solidFill>
              <a:srgbClr val="57C7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0" rIns="128016" bIns="0" rtlCol="0" anchor="ctr"/>
          <a:lstStyle/>
          <a:p>
            <a:pPr algn="ctr"/>
            <a:r>
              <a:rPr sz="950">
                <a:solidFill>
                  <a:srgbClr val="57C7BB"/>
                </a:solidFill>
                <a:latin typeface="Consolas"/>
              </a:rPr>
              <a:t>Draft PO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820656" y="5705856"/>
            <a:ext cx="1228953" cy="329184"/>
          </a:xfrm>
          <a:prstGeom prst="roundRect">
            <a:avLst>
              <a:gd name="adj" fmla="val 50000"/>
            </a:avLst>
          </a:prstGeom>
          <a:solidFill>
            <a:srgbClr val="1B302E"/>
          </a:solidFill>
          <a:ln w="12700">
            <a:solidFill>
              <a:srgbClr val="57C7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0" rIns="128016" bIns="0" rtlCol="0" anchor="ctr"/>
          <a:lstStyle/>
          <a:p>
            <a:pPr algn="ctr"/>
            <a:r>
              <a:rPr sz="950">
                <a:solidFill>
                  <a:srgbClr val="57C7BB"/>
                </a:solidFill>
                <a:latin typeface="Consolas"/>
              </a:rPr>
              <a:t>Price Insight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2883F"/>
                </a:solidFill>
                <a:latin typeface="Consolas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457200"/>
            <a:ext cx="54864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200" dirty="0">
                <a:solidFill>
                  <a:srgbClr val="6B7488"/>
                </a:solidFill>
                <a:latin typeface="Consolas"/>
              </a:rPr>
              <a:t>Prima ASTRO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804672"/>
            <a:ext cx="10908792" cy="0"/>
          </a:xfrm>
          <a:prstGeom prst="line">
            <a:avLst/>
          </a:prstGeom>
          <a:ln w="9525">
            <a:solidFill>
              <a:srgbClr val="2B32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21792" y="91440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EEF1F6"/>
                </a:solidFill>
                <a:latin typeface="Arial Black"/>
              </a:rPr>
              <a:t>Fitur-Fitur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874519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2883F"/>
                </a:solidFill>
                <a:latin typeface="Consolas"/>
              </a:rPr>
              <a:t>DASHBOARD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21792" y="2221991"/>
            <a:ext cx="3520440" cy="0"/>
          </a:xfrm>
          <a:prstGeom prst="line">
            <a:avLst/>
          </a:prstGeom>
          <a:ln w="9525">
            <a:solidFill>
              <a:srgbClr val="2B32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621792" y="2459735"/>
            <a:ext cx="54864" cy="54864"/>
          </a:xfrm>
          <a:prstGeom prst="rect">
            <a:avLst/>
          </a:prstGeom>
          <a:solidFill>
            <a:srgbClr val="6B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2377439"/>
            <a:ext cx="3355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9AA4B8"/>
                </a:solidFill>
                <a:latin typeface="Segoe UI"/>
              </a:rPr>
              <a:t>Stats real-time — total item, low stock, total transaksi.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2916935"/>
            <a:ext cx="54864" cy="54864"/>
          </a:xfrm>
          <a:prstGeom prst="rect">
            <a:avLst/>
          </a:prstGeom>
          <a:solidFill>
            <a:srgbClr val="6B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6384" y="2834639"/>
            <a:ext cx="3355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9AA4B8"/>
                </a:solidFill>
                <a:latin typeface="Segoe UI"/>
              </a:rPr>
              <a:t>Insight katalog — restock alert, tren naik/turun.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3374135"/>
            <a:ext cx="54864" cy="54864"/>
          </a:xfrm>
          <a:prstGeom prst="rect">
            <a:avLst/>
          </a:prstGeom>
          <a:solidFill>
            <a:srgbClr val="6B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" y="3291839"/>
            <a:ext cx="3355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9AA4B8"/>
                </a:solidFill>
                <a:latin typeface="Segoe UI"/>
              </a:rPr>
              <a:t>Tabel transaksi keluar terbaru.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1874519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2883F"/>
                </a:solidFill>
                <a:latin typeface="Consolas"/>
              </a:rPr>
              <a:t>AI ASSISTANT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343400" y="2221991"/>
            <a:ext cx="3520440" cy="0"/>
          </a:xfrm>
          <a:prstGeom prst="line">
            <a:avLst/>
          </a:prstGeom>
          <a:ln w="9525">
            <a:solidFill>
              <a:srgbClr val="2B32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4343400" y="2459735"/>
            <a:ext cx="54864" cy="54864"/>
          </a:xfrm>
          <a:prstGeom prst="rect">
            <a:avLst/>
          </a:prstGeom>
          <a:solidFill>
            <a:srgbClr val="6B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07992" y="2377439"/>
            <a:ext cx="3355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9AA4B8"/>
                </a:solidFill>
                <a:latin typeface="Segoe UI"/>
              </a:rPr>
              <a:t>Chatbot di Web Dashboard.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916935"/>
            <a:ext cx="54864" cy="54864"/>
          </a:xfrm>
          <a:prstGeom prst="rect">
            <a:avLst/>
          </a:prstGeom>
          <a:solidFill>
            <a:srgbClr val="6B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07992" y="2834639"/>
            <a:ext cx="3355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9AA4B8"/>
                </a:solidFill>
                <a:latin typeface="Segoe UI"/>
              </a:rPr>
              <a:t>Bot Telegram — akses yang sama dari HP.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3374135"/>
            <a:ext cx="54864" cy="54864"/>
          </a:xfrm>
          <a:prstGeom prst="rect">
            <a:avLst/>
          </a:prstGeom>
          <a:solidFill>
            <a:srgbClr val="6B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07992" y="3291839"/>
            <a:ext cx="3355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9AA4B8"/>
                </a:solidFill>
                <a:latin typeface="Segoe UI"/>
              </a:rPr>
              <a:t>Semua tanya-jawab pakai bahasa natural.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5008" y="1874519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2883F"/>
                </a:solidFill>
                <a:latin typeface="Consolas"/>
              </a:rPr>
              <a:t>FORECASTING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065008" y="2221991"/>
            <a:ext cx="3520440" cy="0"/>
          </a:xfrm>
          <a:prstGeom prst="line">
            <a:avLst/>
          </a:prstGeom>
          <a:ln w="9525">
            <a:solidFill>
              <a:srgbClr val="2B32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8065008" y="2459735"/>
            <a:ext cx="54864" cy="54864"/>
          </a:xfrm>
          <a:prstGeom prst="rect">
            <a:avLst/>
          </a:prstGeom>
          <a:solidFill>
            <a:srgbClr val="6B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29600" y="2377439"/>
            <a:ext cx="3355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9AA4B8"/>
                </a:solidFill>
                <a:latin typeface="Segoe UI"/>
              </a:rPr>
              <a:t>Prediksi kebutuhan 30 hari (Prophet).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65008" y="2916935"/>
            <a:ext cx="54864" cy="54864"/>
          </a:xfrm>
          <a:prstGeom prst="rect">
            <a:avLst/>
          </a:prstGeom>
          <a:solidFill>
            <a:srgbClr val="6B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0" y="2834639"/>
            <a:ext cx="3355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9AA4B8"/>
                </a:solidFill>
                <a:latin typeface="Segoe UI"/>
              </a:rPr>
              <a:t>Grafik data aktual vs prediksi (Chart.js).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65008" y="3374135"/>
            <a:ext cx="54864" cy="54864"/>
          </a:xfrm>
          <a:prstGeom prst="rect">
            <a:avLst/>
          </a:prstGeom>
          <a:solidFill>
            <a:srgbClr val="6B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0" y="3291839"/>
            <a:ext cx="3355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9AA4B8"/>
                </a:solidFill>
                <a:latin typeface="Segoe UI"/>
              </a:rPr>
              <a:t>Minimal 5 transaksi buat mulai prediksi.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" y="4069079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2883F"/>
                </a:solidFill>
                <a:latin typeface="Consolas"/>
              </a:rPr>
              <a:t>PURCHASING &amp; HARGA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21792" y="4416551"/>
            <a:ext cx="3520440" cy="0"/>
          </a:xfrm>
          <a:prstGeom prst="line">
            <a:avLst/>
          </a:prstGeom>
          <a:ln w="9525">
            <a:solidFill>
              <a:srgbClr val="2B32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21792" y="4654295"/>
            <a:ext cx="54864" cy="54864"/>
          </a:xfrm>
          <a:prstGeom prst="rect">
            <a:avLst/>
          </a:prstGeom>
          <a:solidFill>
            <a:srgbClr val="6B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86384" y="4571999"/>
            <a:ext cx="3355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9AA4B8"/>
                </a:solidFill>
                <a:latin typeface="Segoe UI"/>
              </a:rPr>
              <a:t>Draft PO otomatis dari item kritis.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" y="5111495"/>
            <a:ext cx="54864" cy="54864"/>
          </a:xfrm>
          <a:prstGeom prst="rect">
            <a:avLst/>
          </a:prstGeom>
          <a:solidFill>
            <a:srgbClr val="6B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86384" y="5029199"/>
            <a:ext cx="3355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9AA4B8"/>
                </a:solidFill>
                <a:latin typeface="Segoe UI"/>
              </a:rPr>
              <a:t>Estimasi biaya order per item.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792" y="5568695"/>
            <a:ext cx="54864" cy="54864"/>
          </a:xfrm>
          <a:prstGeom prst="rect">
            <a:avLst/>
          </a:prstGeom>
          <a:solidFill>
            <a:srgbClr val="6B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86384" y="5486399"/>
            <a:ext cx="3355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9AA4B8"/>
                </a:solidFill>
                <a:latin typeface="Segoe UI"/>
              </a:rPr>
              <a:t>Insight nilai stok &amp; item termahal.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43400" y="4069079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2883F"/>
                </a:solidFill>
                <a:latin typeface="Consolas"/>
              </a:rPr>
              <a:t>OTOMASI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343400" y="4416551"/>
            <a:ext cx="3520440" cy="0"/>
          </a:xfrm>
          <a:prstGeom prst="line">
            <a:avLst/>
          </a:prstGeom>
          <a:ln w="9525">
            <a:solidFill>
              <a:srgbClr val="2B32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4343400" y="4654295"/>
            <a:ext cx="54864" cy="54864"/>
          </a:xfrm>
          <a:prstGeom prst="rect">
            <a:avLst/>
          </a:prstGeom>
          <a:solidFill>
            <a:srgbClr val="6B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07992" y="4571999"/>
            <a:ext cx="3355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9AA4B8"/>
                </a:solidFill>
                <a:latin typeface="Segoe UI"/>
              </a:rPr>
              <a:t>Notifikasi restock harian ke Telegram.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43400" y="5111495"/>
            <a:ext cx="54864" cy="54864"/>
          </a:xfrm>
          <a:prstGeom prst="rect">
            <a:avLst/>
          </a:prstGeom>
          <a:solidFill>
            <a:srgbClr val="6B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507992" y="5029199"/>
            <a:ext cx="3355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9AA4B8"/>
                </a:solidFill>
                <a:latin typeface="Segoe UI"/>
              </a:rPr>
              <a:t>Export laporan CSV diproses async.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43400" y="5568695"/>
            <a:ext cx="54864" cy="54864"/>
          </a:xfrm>
          <a:prstGeom prst="rect">
            <a:avLst/>
          </a:prstGeom>
          <a:solidFill>
            <a:srgbClr val="6B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507992" y="5486399"/>
            <a:ext cx="3355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9AA4B8"/>
                </a:solidFill>
                <a:latin typeface="Segoe UI"/>
              </a:rPr>
              <a:t>Semua lewat antrian Redis, gak bikin macet.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65008" y="4069079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2883F"/>
                </a:solidFill>
                <a:latin typeface="Consolas"/>
              </a:rPr>
              <a:t>FLEKSIBILITAS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065008" y="4416551"/>
            <a:ext cx="3520440" cy="0"/>
          </a:xfrm>
          <a:prstGeom prst="line">
            <a:avLst/>
          </a:prstGeom>
          <a:ln w="9525">
            <a:solidFill>
              <a:srgbClr val="2B32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8065008" y="4654295"/>
            <a:ext cx="54864" cy="54864"/>
          </a:xfrm>
          <a:prstGeom prst="rect">
            <a:avLst/>
          </a:prstGeom>
          <a:solidFill>
            <a:srgbClr val="6B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229600" y="4571999"/>
            <a:ext cx="3355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9AA4B8"/>
                </a:solidFill>
                <a:latin typeface="Segoe UI"/>
              </a:rPr>
              <a:t>LLM bisa cloud (Gemini) atau lokal (Ollama).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5111495"/>
            <a:ext cx="54864" cy="54864"/>
          </a:xfrm>
          <a:prstGeom prst="rect">
            <a:avLst/>
          </a:prstGeom>
          <a:solidFill>
            <a:srgbClr val="6B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229600" y="5029199"/>
            <a:ext cx="3355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9AA4B8"/>
                </a:solidFill>
                <a:latin typeface="Segoe UI"/>
              </a:rPr>
              <a:t>Satu business logic buat semua pintu masuk.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65008" y="5568695"/>
            <a:ext cx="54864" cy="54864"/>
          </a:xfrm>
          <a:prstGeom prst="rect">
            <a:avLst/>
          </a:prstGeom>
          <a:solidFill>
            <a:srgbClr val="6B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229600" y="5486399"/>
            <a:ext cx="3355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9AA4B8"/>
                </a:solidFill>
                <a:latin typeface="Segoe UI"/>
              </a:rPr>
              <a:t>Gampang ganti database lewat layer repository.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2883F"/>
                </a:solidFill>
                <a:latin typeface="Consolas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457200"/>
            <a:ext cx="54864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200" b="0" i="0" dirty="0" smtClean="0">
                <a:solidFill>
                  <a:srgbClr val="6B7488"/>
                </a:solidFill>
                <a:latin typeface="Consolas"/>
              </a:rPr>
              <a:t>Prima ASTRO</a:t>
            </a:r>
            <a:endParaRPr sz="1200" b="0" i="0" dirty="0">
              <a:solidFill>
                <a:srgbClr val="6B7488"/>
              </a:solidFill>
              <a:latin typeface="Consolas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640080" y="804672"/>
            <a:ext cx="10908792" cy="0"/>
          </a:xfrm>
          <a:prstGeom prst="line">
            <a:avLst/>
          </a:prstGeom>
          <a:ln w="9525">
            <a:solidFill>
              <a:srgbClr val="2B32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21792" y="914400"/>
            <a:ext cx="10058400" cy="523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 dirty="0">
                <a:solidFill>
                  <a:srgbClr val="EEF1F6"/>
                </a:solidFill>
                <a:latin typeface="Arial Black"/>
              </a:rPr>
              <a:t>Tech </a:t>
            </a:r>
            <a:r>
              <a:rPr sz="3400" b="1" i="0" dirty="0" smtClean="0">
                <a:solidFill>
                  <a:srgbClr val="EEF1F6"/>
                </a:solidFill>
                <a:latin typeface="Arial Black"/>
              </a:rPr>
              <a:t>Stack</a:t>
            </a:r>
            <a:endParaRPr sz="3400" b="1" i="0" dirty="0">
              <a:solidFill>
                <a:srgbClr val="EEF1F6"/>
              </a:solidFill>
              <a:latin typeface="Arial Black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621792" y="1965960"/>
            <a:ext cx="6949440" cy="0"/>
          </a:xfrm>
          <a:prstGeom prst="line">
            <a:avLst/>
          </a:prstGeom>
          <a:ln w="9525">
            <a:solidFill>
              <a:srgbClr val="2B32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21792" y="2039112"/>
            <a:ext cx="21031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57C7BB"/>
                </a:solidFill>
                <a:latin typeface="Consolas"/>
              </a:rPr>
              <a:t>Orkestrasi Agen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16352" y="2039112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9AA4B8"/>
                </a:solidFill>
                <a:latin typeface="Segoe UI"/>
              </a:rPr>
              <a:t>CrewAI (Manager + 5 spesialis, proses hierarchical)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21792" y="2532888"/>
            <a:ext cx="6949440" cy="0"/>
          </a:xfrm>
          <a:prstGeom prst="line">
            <a:avLst/>
          </a:prstGeom>
          <a:ln w="9525">
            <a:solidFill>
              <a:srgbClr val="2B32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1792" y="2606040"/>
            <a:ext cx="21031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57C7BB"/>
                </a:solidFill>
                <a:latin typeface="Consolas"/>
              </a:rPr>
              <a:t>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16352" y="2606040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9AA4B8"/>
                </a:solidFill>
                <a:latin typeface="Segoe UI"/>
              </a:rPr>
              <a:t>Google Gemini 2.5 Flash (cloud) via LiteLLM, atau Ollama Llama 3.1 (lokal)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1792" y="3099816"/>
            <a:ext cx="6949440" cy="0"/>
          </a:xfrm>
          <a:prstGeom prst="line">
            <a:avLst/>
          </a:prstGeom>
          <a:ln w="9525">
            <a:solidFill>
              <a:srgbClr val="2B32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1792" y="3172968"/>
            <a:ext cx="21031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57C7BB"/>
                </a:solidFill>
                <a:latin typeface="Consolas"/>
              </a:rPr>
              <a:t>Antrian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6352" y="317296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9AA4B8"/>
                </a:solidFill>
                <a:latin typeface="Segoe UI"/>
              </a:rPr>
              <a:t>Celery + Redis — broker, result backend, sekaligus penjadwal (Beat)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21792" y="3666744"/>
            <a:ext cx="6949440" cy="0"/>
          </a:xfrm>
          <a:prstGeom prst="line">
            <a:avLst/>
          </a:prstGeom>
          <a:ln w="9525">
            <a:solidFill>
              <a:srgbClr val="2B32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21792" y="3739896"/>
            <a:ext cx="21031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57C7BB"/>
                </a:solidFill>
                <a:latin typeface="Consolas"/>
              </a:rPr>
              <a:t>Forecasting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16352" y="3739896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9AA4B8"/>
                </a:solidFill>
                <a:latin typeface="Segoe UI"/>
              </a:rPr>
              <a:t>Facebook Prophet + Pandas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21792" y="4233672"/>
            <a:ext cx="6949440" cy="0"/>
          </a:xfrm>
          <a:prstGeom prst="line">
            <a:avLst/>
          </a:prstGeom>
          <a:ln w="9525">
            <a:solidFill>
              <a:srgbClr val="2B32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21792" y="4306824"/>
            <a:ext cx="21031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57C7BB"/>
                </a:solidFill>
                <a:latin typeface="Consolas"/>
              </a:rPr>
              <a:t>Backend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6352" y="4306824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9AA4B8"/>
                </a:solidFill>
                <a:latin typeface="Segoe UI"/>
              </a:rPr>
              <a:t>FastAPI (REST API &amp; dashboard), SQLite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21792" y="4800600"/>
            <a:ext cx="6949440" cy="0"/>
          </a:xfrm>
          <a:prstGeom prst="line">
            <a:avLst/>
          </a:prstGeom>
          <a:ln w="9525">
            <a:solidFill>
              <a:srgbClr val="2B32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21792" y="4873752"/>
            <a:ext cx="21031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57C7BB"/>
                </a:solidFill>
                <a:latin typeface="Consolas"/>
              </a:rPr>
              <a:t>Delivery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16352" y="4873752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9AA4B8"/>
                </a:solidFill>
                <a:latin typeface="Segoe UI"/>
              </a:rPr>
              <a:t>Web (Chart.js, vanilla JS) &amp; python-telegram-bot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18120" y="1965960"/>
            <a:ext cx="3749039" cy="3429000"/>
          </a:xfrm>
          <a:prstGeom prst="roundRect">
            <a:avLst>
              <a:gd name="adj" fmla="val 8000"/>
            </a:avLst>
          </a:prstGeom>
          <a:solidFill>
            <a:srgbClr val="181D27"/>
          </a:solidFill>
          <a:ln w="12700">
            <a:solidFill>
              <a:srgbClr val="2B32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320040" rIns="274320" rtlCol="0" anchor="t"/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EEF1F6"/>
                </a:solidFill>
                <a:latin typeface="Arial Black"/>
              </a:rPr>
              <a:t>Satu business logic, </a:t>
            </a:r>
            <a:r>
              <a:rPr sz="2000" b="1">
                <a:solidFill>
                  <a:srgbClr val="E2883F"/>
                </a:solidFill>
                <a:latin typeface="Arial Black"/>
              </a:rPr>
              <a:t>tiga pintu masuk</a:t>
            </a:r>
            <a:r>
              <a:rPr sz="2000" b="1">
                <a:solidFill>
                  <a:srgbClr val="EEF1F6"/>
                </a:solidFill>
                <a:latin typeface="Arial Black"/>
              </a:rPr>
              <a:t> — konsisten dari mana pun ditanya.</a:t>
            </a:r>
          </a:p>
          <a:p>
            <a:pPr>
              <a:lnSpc>
                <a:spcPct val="130000"/>
              </a:lnSpc>
              <a:spcBef>
                <a:spcPts val="1800"/>
              </a:spcBef>
            </a:pPr>
            <a:r>
              <a:rPr sz="1250">
                <a:solidFill>
                  <a:srgbClr val="9AA4B8"/>
                </a:solidFill>
                <a:latin typeface="Segoe UI"/>
              </a:rPr>
              <a:t>Web Dashboard, Telegram Bot, dan REST API semuanya manggil usecase yang sama persis. Jawaban chatbot dan angka di dashboard gak akan pernah beda.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10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 dirty="0" smtClean="0">
                <a:solidFill>
                  <a:srgbClr val="E2883F"/>
                </a:solidFill>
                <a:latin typeface="Consolas"/>
              </a:rPr>
              <a:t>0</a:t>
            </a:r>
            <a:r>
              <a:rPr lang="en-US" sz="1200" b="1" i="0" dirty="0" smtClean="0">
                <a:solidFill>
                  <a:srgbClr val="E2883F"/>
                </a:solidFill>
                <a:latin typeface="Consolas"/>
              </a:rPr>
              <a:t>7</a:t>
            </a:r>
            <a:endParaRPr sz="1200" b="1" i="0" dirty="0">
              <a:solidFill>
                <a:srgbClr val="E2883F"/>
              </a:solidFill>
              <a:latin typeface="Consola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51560" y="457200"/>
            <a:ext cx="54864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200" b="0" i="0" dirty="0" smtClean="0">
                <a:solidFill>
                  <a:srgbClr val="6B7488"/>
                </a:solidFill>
                <a:latin typeface="Consolas"/>
              </a:rPr>
              <a:t>Prima ASTRO</a:t>
            </a:r>
            <a:endParaRPr sz="1200" b="0" i="0" dirty="0">
              <a:solidFill>
                <a:srgbClr val="6B7488"/>
              </a:solidFill>
              <a:latin typeface="Consolas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640080" y="804672"/>
            <a:ext cx="10908792" cy="0"/>
          </a:xfrm>
          <a:prstGeom prst="line">
            <a:avLst/>
          </a:prstGeom>
          <a:ln w="9525">
            <a:solidFill>
              <a:srgbClr val="2B32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21792" y="914400"/>
            <a:ext cx="10058400" cy="523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3400" b="1" i="0" dirty="0" err="1" smtClean="0">
                <a:solidFill>
                  <a:srgbClr val="EEF1F6"/>
                </a:solidFill>
                <a:latin typeface="Arial Black"/>
              </a:rPr>
              <a:t>Dokumentasi</a:t>
            </a:r>
            <a:endParaRPr sz="3400" b="1" i="0" dirty="0">
              <a:solidFill>
                <a:srgbClr val="EEF1F6"/>
              </a:solidFill>
              <a:latin typeface="Arial Black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14891" y="1684274"/>
            <a:ext cx="22169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4 Mei – Training AI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21792" y="2288642"/>
            <a:ext cx="2975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5 Mei - Discussion Group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40080" y="2982724"/>
            <a:ext cx="2975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5 Mei - </a:t>
            </a:r>
            <a:r>
              <a:rPr lang="en-US" dirty="0" err="1" smtClean="0">
                <a:solidFill>
                  <a:schemeClr val="bg1"/>
                </a:solidFill>
              </a:rPr>
              <a:t>Kelompokan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68375" y="3593812"/>
            <a:ext cx="2975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24 </a:t>
            </a:r>
            <a:r>
              <a:rPr lang="en-US" dirty="0" err="1" smtClean="0">
                <a:solidFill>
                  <a:schemeClr val="bg1"/>
                </a:solidFill>
              </a:rPr>
              <a:t>Juni</a:t>
            </a:r>
            <a:r>
              <a:rPr lang="en-US" dirty="0" smtClean="0">
                <a:solidFill>
                  <a:schemeClr val="bg1"/>
                </a:solidFill>
              </a:rPr>
              <a:t> – Mentoring </a:t>
            </a:r>
            <a:r>
              <a:rPr lang="en-US" dirty="0" err="1" smtClean="0">
                <a:solidFill>
                  <a:schemeClr val="bg1"/>
                </a:solidFill>
              </a:rPr>
              <a:t>Sistem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68375" y="4217762"/>
            <a:ext cx="45506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5 Mei – Meeting </a:t>
            </a:r>
            <a:r>
              <a:rPr lang="en-US" dirty="0" err="1" smtClean="0">
                <a:solidFill>
                  <a:schemeClr val="bg1"/>
                </a:solidFill>
              </a:rPr>
              <a:t>dengan</a:t>
            </a:r>
            <a:r>
              <a:rPr lang="en-US" dirty="0" smtClean="0">
                <a:solidFill>
                  <a:schemeClr val="bg1"/>
                </a:solidFill>
              </a:rPr>
              <a:t> Management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68375" y="4814166"/>
            <a:ext cx="45506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5 Mei – Trial User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68375" y="5438116"/>
            <a:ext cx="45506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5 Mei – </a:t>
            </a:r>
            <a:r>
              <a:rPr lang="en-US" dirty="0" err="1" smtClean="0">
                <a:solidFill>
                  <a:schemeClr val="bg1"/>
                </a:solidFill>
              </a:rPr>
              <a:t>Bux</a:t>
            </a:r>
            <a:r>
              <a:rPr lang="en-US" dirty="0" smtClean="0">
                <a:solidFill>
                  <a:schemeClr val="bg1"/>
                </a:solidFill>
              </a:rPr>
              <a:t> Fixing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01060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698</Words>
  <Application>Microsoft Office PowerPoint</Application>
  <PresentationFormat>Widescreen</PresentationFormat>
  <Paragraphs>120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Arial Black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Findryan kurnia</cp:lastModifiedBy>
  <cp:revision>9</cp:revision>
  <dcterms:created xsi:type="dcterms:W3CDTF">2013-01-27T09:14:16Z</dcterms:created>
  <dcterms:modified xsi:type="dcterms:W3CDTF">2026-08-26T09:39:21Z</dcterms:modified>
  <cp:category/>
</cp:coreProperties>
</file>